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2f1d78d444b79" /><Relationship Type="http://schemas.openxmlformats.org/officeDocument/2006/relationships/extended-properties" Target="/docProps/app.xml" Id="R85a6c9aafe964e34" /><Relationship Type="http://schemas.openxmlformats.org/officeDocument/2006/relationships/officeDocument" Target="/ppt/presentation.xml" Id="R792630c424fc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2e8c21c674147"/>
  </p:sldMasterIdLst>
  <p:notesMasterIdLst>
    <p:notesMasterId xmlns:r="http://schemas.openxmlformats.org/officeDocument/2006/relationships" r:id="Rc014269b2a05456d"/>
  </p:notesMasterIdLst>
  <p:sldIdLst>
    <p:sldId xmlns:r="http://schemas.openxmlformats.org/officeDocument/2006/relationships" id="256" r:id="R3127ae4eb4214966"/>
    <p:sldId xmlns:r="http://schemas.openxmlformats.org/officeDocument/2006/relationships" id="257" r:id="Rd1ee6a39615a4788"/>
    <p:sldId xmlns:r="http://schemas.openxmlformats.org/officeDocument/2006/relationships" id="258" r:id="R31dc14be9e8d4759"/>
    <p:sldId xmlns:r="http://schemas.openxmlformats.org/officeDocument/2006/relationships" id="259" r:id="R53854da3224541ff"/>
    <p:sldId xmlns:r="http://schemas.openxmlformats.org/officeDocument/2006/relationships" id="260" r:id="Rc918a4cf556d4048"/>
    <p:sldId xmlns:r="http://schemas.openxmlformats.org/officeDocument/2006/relationships" id="261" r:id="Rb680592a73cf4005"/>
    <p:sldId xmlns:r="http://schemas.openxmlformats.org/officeDocument/2006/relationships" id="262" r:id="Rf3d8f3a048744551"/>
    <p:sldId xmlns:r="http://schemas.openxmlformats.org/officeDocument/2006/relationships" id="263" r:id="Re79bf70b604d41ca"/>
    <p:sldId xmlns:r="http://schemas.openxmlformats.org/officeDocument/2006/relationships" id="264" r:id="Ra19dfc11f0a94d69"/>
    <p:sldId xmlns:r="http://schemas.openxmlformats.org/officeDocument/2006/relationships" id="265" r:id="Rb72085469c3045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368182d884ae7" /><Relationship Type="http://schemas.openxmlformats.org/officeDocument/2006/relationships/slideMaster" Target="/ppt/slideMasters/slideMaster1.xml" Id="Raeb2e8c21c674147" /><Relationship Type="http://schemas.openxmlformats.org/officeDocument/2006/relationships/notesMaster" Target="/ppt/notesMasters/notesMaster1.xml" Id="Rc014269b2a05456d" /><Relationship Type="http://schemas.openxmlformats.org/officeDocument/2006/relationships/presProps" Target="/ppt/presProps.xml" Id="R36c2e534d160448b" /><Relationship Type="http://schemas.openxmlformats.org/officeDocument/2006/relationships/tableStyles" Target="/ppt/tableStyles.xml" Id="R2b65352e963f4a8b" /><Relationship Type="http://schemas.openxmlformats.org/officeDocument/2006/relationships/slide" Target="/ppt/slides/slide1.xml" Id="R3127ae4eb4214966" /><Relationship Type="http://schemas.openxmlformats.org/officeDocument/2006/relationships/slide" Target="/ppt/slides/slide2.xml" Id="Rd1ee6a39615a4788" /><Relationship Type="http://schemas.openxmlformats.org/officeDocument/2006/relationships/slide" Target="/ppt/slides/slide3.xml" Id="R31dc14be9e8d4759" /><Relationship Type="http://schemas.openxmlformats.org/officeDocument/2006/relationships/slide" Target="/ppt/slides/slide4.xml" Id="R53854da3224541ff" /><Relationship Type="http://schemas.openxmlformats.org/officeDocument/2006/relationships/slide" Target="/ppt/slides/slide5.xml" Id="Rc918a4cf556d4048" /><Relationship Type="http://schemas.openxmlformats.org/officeDocument/2006/relationships/slide" Target="/ppt/slides/slide6.xml" Id="Rb680592a73cf4005" /><Relationship Type="http://schemas.openxmlformats.org/officeDocument/2006/relationships/slide" Target="/ppt/slides/slide7.xml" Id="Rf3d8f3a048744551" /><Relationship Type="http://schemas.openxmlformats.org/officeDocument/2006/relationships/slide" Target="/ppt/slides/slide8.xml" Id="Re79bf70b604d41ca" /><Relationship Type="http://schemas.openxmlformats.org/officeDocument/2006/relationships/slide" Target="/ppt/slides/slide9.xml" Id="Ra19dfc11f0a94d69" /><Relationship Type="http://schemas.openxmlformats.org/officeDocument/2006/relationships/slide" Target="/ppt/slides/slide10.xml" Id="Rb72085469c30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bf3fde81a147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6927008b7343d0" /><Relationship Type="http://schemas.openxmlformats.org/officeDocument/2006/relationships/notesMaster" Target="/ppt/notesMasters/notesMaster1.xml" Id="Ra60a1d1c81034c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7cfba4206b42a4" /><Relationship Type="http://schemas.openxmlformats.org/officeDocument/2006/relationships/notesMaster" Target="/ppt/notesMasters/notesMaster1.xml" Id="R42cd674a4513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a87880a464a0e" /><Relationship Type="http://schemas.openxmlformats.org/officeDocument/2006/relationships/notesMaster" Target="/ppt/notesMasters/notesMaster1.xml" Id="Ra12bdb756edf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1ccb6be5d4385" /><Relationship Type="http://schemas.openxmlformats.org/officeDocument/2006/relationships/notesMaster" Target="/ppt/notesMasters/notesMaster1.xml" Id="R19459323f97541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09ae8baca84377" /><Relationship Type="http://schemas.openxmlformats.org/officeDocument/2006/relationships/notesMaster" Target="/ppt/notesMasters/notesMaster1.xml" Id="Rce09258cc37f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4d6f3cefb4876" /><Relationship Type="http://schemas.openxmlformats.org/officeDocument/2006/relationships/notesMaster" Target="/ppt/notesMasters/notesMaster1.xml" Id="R7837b505512c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a567af461c4d90" /><Relationship Type="http://schemas.openxmlformats.org/officeDocument/2006/relationships/notesMaster" Target="/ppt/notesMasters/notesMaster1.xml" Id="Rb83ea2d0166c48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963b3f68f74168" /><Relationship Type="http://schemas.openxmlformats.org/officeDocument/2006/relationships/notesMaster" Target="/ppt/notesMasters/notesMaster1.xml" Id="Rfbc20dd174e9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61eaaeb51f474b" /><Relationship Type="http://schemas.openxmlformats.org/officeDocument/2006/relationships/notesMaster" Target="/ppt/notesMasters/notesMaster1.xml" Id="R19f41e8668a144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c61a1a79e34a8a" /><Relationship Type="http://schemas.openxmlformats.org/officeDocument/2006/relationships/notesMaster" Target="/ppt/notesMasters/notesMaster1.xml" Id="R90c2b1b32ff3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physical type agreement is not semantic compatibility.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sketches/trade-dim-v1.md</a:t>
            </a:r>
          </a:p>
          <a:p xmlns:a="http://schemas.openxmlformats.org/drawingml/2006/main">
            <a:r>
              <a:t>- evidence/issue-4/candidate-edge-adjudication-v1.json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evidence/issue-4/candidate-edge-adjudication-v1.json</a:t>
            </a:r>
          </a:p>
          <a:p xmlns:a="http://schemas.openxmlformats.org/drawingml/2006/main">
            <a:r>
              <a:t>- contracts/edges/trade-history-to-dim-trade-v1.json</a:t>
            </a:r>
          </a:p>
          <a:p xmlns:a="http://schemas.openxmlformats.org/drawingml/2006/main">
            <a:r>
              <a:t>- TPC-DI 1.1.0 clauses 4.5.8.1–4.5.8.2: https://www.tpc.org/tpc_documents_current_versions/pdf/tpc-di_v1.1.0.pdf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sketches/trade-dim-v1.md</a:t>
            </a:r>
          </a:p>
          <a:p xmlns:a="http://schemas.openxmlformats.org/drawingml/2006/main">
            <a:r>
              <a:t>- docs/executable-projection.md</a:t>
            </a:r>
          </a:p>
          <a:p xmlns:a="http://schemas.openxmlformats.org/drawingml/2006/main">
            <a:r>
              <a:t>- contracts/compiler-profile-trade-dim-v1.json</a:t>
            </a:r>
          </a:p>
          <a:p xmlns:a="http://schemas.openxmlformats.org/drawingml/2006/main">
            <a:r>
              <a:t>- evidence/issue-5/sketch-review-v1.md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/Users/muness1/.agents/skills/cess/SKILL.md</a:t>
            </a:r>
          </a:p>
          <a:p xmlns:a="http://schemas.openxmlformats.org/drawingml/2006/main">
            <a:r>
              <a:t>- sketches/trade-dim-v1.md</a:t>
            </a:r>
          </a:p>
          <a:p xmlns:a="http://schemas.openxmlformats.org/drawingml/2006/main">
            <a:r>
              <a:t>- contracts/artifact-classification-v1.json</a:t>
            </a:r>
          </a:p>
          <a:p xmlns:a="http://schemas.openxmlformats.org/drawingml/2006/main">
            <a:r>
              <a:t>- contracts/repair-authority/trade-lifecycle-edge-v1.json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/Users/muness1/.agents/skills/cess/SKILL.md</a:t>
            </a:r>
          </a:p>
          <a:p xmlns:a="http://schemas.openxmlformats.org/drawingml/2006/main">
            <a:r>
              <a:t>- docs/semantic-repair-oracle.md</a:t>
            </a:r>
          </a:p>
          <a:p xmlns:a="http://schemas.openxmlformats.org/drawingml/2006/main">
            <a:r>
              <a:t>- docs/semantic-contracts.md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contracts/edges/trade-history-to-dim-trade-v1.json</a:t>
            </a:r>
          </a:p>
          <a:p xmlns:a="http://schemas.openxmlformats.org/drawingml/2006/main">
            <a:r>
              <a:t>- contracts/repair-authority/trade-lifecycle-edge-v1.json</a:t>
            </a:r>
          </a:p>
          <a:p xmlns:a="http://schemas.openxmlformats.org/drawingml/2006/main">
            <a:r>
              <a:t>- evidence/issue-4/candidate-edge-adjudication-v1.json</a:t>
            </a:r>
          </a:p>
          <a:p xmlns:a="http://schemas.openxmlformats.org/drawingml/2006/main">
            <a:r>
              <a:t>- evidence/issue-5/sqlmesh-execution-v1.json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contracts/revalidation-profile-v1.json</a:t>
            </a:r>
          </a:p>
          <a:p xmlns:a="http://schemas.openxmlformats.org/drawingml/2006/main">
            <a:r>
              <a:t>- evidence/issue-6/revalidation-report-v1.json</a:t>
            </a:r>
          </a:p>
          <a:p xmlns:a="http://schemas.openxmlformats.org/drawingml/2006/main">
            <a:r>
              <a:t>- docs/revalidation-cones.md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evidence/issue-8/bounded-decision-v1.json</a:t>
            </a:r>
          </a:p>
          <a:p xmlns:a="http://schemas.openxmlformats.org/drawingml/2006/main">
            <a:r>
              <a:t>- evidence/issue-7/experiment-result-v2.4.json</a:t>
            </a:r>
          </a:p>
          <a:p xmlns:a="http://schemas.openxmlformats.org/drawingml/2006/main">
            <a:r>
              <a:t>- docs/matched-experiment.md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docs/bounded-experiment-report.md</a:t>
            </a:r>
          </a:p>
          <a:p xmlns:a="http://schemas.openxmlformats.org/drawingml/2006/main">
            <a:r>
              <a:t>- evidence/issue-8/bounded-decision-v1.json</a:t>
            </a:r>
          </a:p>
          <a:p xmlns:a="http://schemas.openxmlformats.org/drawingml/2006/main">
            <a:r>
              <a:t>- scripts/verify_final_report.py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architectural criticism. The useful outcome is a sharper next experiment, not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docs/bounded-experiment-report.md</a:t>
            </a:r>
          </a:p>
          <a:p xmlns:a="http://schemas.openxmlformats.org/drawingml/2006/main">
            <a:r>
              <a:t>- .oh/tpcdi-governed-etl.md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b148111f5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313d5e72c4237" /><Relationship Type="http://schemas.openxmlformats.org/officeDocument/2006/relationships/slideLayout" Target="/ppt/slideLayouts/slideLayout1.xml" Id="R64bcaf7f20c6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caf7f20c6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5aa4c5eda4f1c" /><Relationship Type="http://schemas.openxmlformats.org/officeDocument/2006/relationships/notesSlide" Target="/ppt/notesSlides/notesSlide1.xml" Id="Rc327667ecc054a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5003bf6ea4d89" /><Relationship Type="http://schemas.openxmlformats.org/officeDocument/2006/relationships/notesSlide" Target="/ppt/notesSlides/notesSlide2.xml" Id="R47cd433166a2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6f3484e0248a1" /><Relationship Type="http://schemas.openxmlformats.org/officeDocument/2006/relationships/notesSlide" Target="/ppt/notesSlides/notesSlide3.xml" Id="R9dcc02d4d7af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4150a2fcf4f63" /><Relationship Type="http://schemas.openxmlformats.org/officeDocument/2006/relationships/notesSlide" Target="/ppt/notesSlides/notesSlide4.xml" Id="R6dc7cbec92b14f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048fe0514913" /><Relationship Type="http://schemas.openxmlformats.org/officeDocument/2006/relationships/notesSlide" Target="/ppt/notesSlides/notesSlide5.xml" Id="Rccb541b725ae4f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8386682af4831" /><Relationship Type="http://schemas.openxmlformats.org/officeDocument/2006/relationships/notesSlide" Target="/ppt/notesSlides/notesSlide6.xml" Id="Rcd757ad4f33c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6f9aaf2764d13" /><Relationship Type="http://schemas.openxmlformats.org/officeDocument/2006/relationships/notesSlide" Target="/ppt/notesSlides/notesSlide7.xml" Id="R96124ce898e3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f341e037e4fa3" /><Relationship Type="http://schemas.openxmlformats.org/officeDocument/2006/relationships/chart" Target="/ppt/slides/charts/chart1.xml" Id="Ra6e1fe0b20b94c21" /><Relationship Type="http://schemas.openxmlformats.org/officeDocument/2006/relationships/notesSlide" Target="/ppt/notesSlides/notesSlide8.xml" Id="R77ce195b1f8043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b533a8aa74ad6" /><Relationship Type="http://schemas.openxmlformats.org/officeDocument/2006/relationships/notesSlide" Target="/ppt/notesSlides/notesSlide9.xml" Id="R86ae912da6954b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83f00c954430d" /><Relationship Type="http://schemas.openxmlformats.org/officeDocument/2006/relationships/notesSlide" Target="/ppt/notesSlides/notesSlide10.xml" Id="R07f84f1f95814f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Localization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Native</c:v>
              </c:pt>
              <c:pt idx="1">
                <c:v>Stage-local CESS</c:v>
              </c:pt>
              <c:pt idx="2">
                <c:v>Compositional CESS</c:v>
              </c:pt>
            </c:strLit>
          </c:cat>
          <c:val>
            <c:numLit>
              <c:formatCode>General</c:formatCode>
              <c:ptCount val="3"/>
              <c:pt idx="0">
                <c:v>40</c:v>
              </c:pt>
              <c:pt idx="1">
                <c:v>60</c:v>
              </c:pt>
              <c:pt idx="2">
                <c:v>100</c:v>
              </c:pt>
            </c:numLit>
          </c:val>
        </c:ser>
        <c:ser>
          <c:idx val="1"/>
          <c:order val="1"/>
          <c:tx>
            <c:v>Active repair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Native</c:v>
              </c:pt>
              <c:pt idx="1">
                <c:v>Stage-local CESS</c:v>
              </c:pt>
              <c:pt idx="2">
                <c:v>Compositional CESS</c:v>
              </c:pt>
            </c:strLit>
          </c:cat>
          <c:val>
            <c:numLit>
              <c:formatCode>General</c:formatCode>
              <c:ptCount val="3"/>
              <c:pt idx="0">
                <c:v>25</c:v>
              </c:pt>
              <c:pt idx="1">
                <c:v>25</c:v>
              </c:pt>
              <c:pt idx="2">
                <c:v>50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A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A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1F0F63E-1297-4D00-8602-A29491AD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ARCHITECTURE DISCUSSION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7852685-48E1-41DA-B294-DE1A795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18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valid warehouse stages disagree about meaning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3A129F-0CDB-4A63-8815-3218C40D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 governed compositional CESS architecture for locating semantic responsibility, authorizing change, and proving downstream consequences.</a:t>
            </a:r>
          </a:p>
        </p:txBody>
      </p:sp>
      <p:cxnSp>
        <p:nvCxnSpPr>
          <p:cNvPr id="18" name="cover-divider"/>
          <p:cNvCxnSpPr/>
          <p:nvPr/>
        </p:nvCxnSpPr>
        <p:spPr>
          <a:xfrm xmlns:a="http://schemas.openxmlformats.org/drawingml/2006/main">
            <a:off x="6096000" y="4000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cover-actual">
            <a:extLst xmlns:a="http://schemas.openxmlformats.org/drawingml/2006/main">
              <a:ext uri="{FF2B5EF4-FFF2-40B4-BE49-F238E27FC236}">
                <a16:creationId xmlns:a16="http://schemas.microsoft.com/office/drawing/2014/main" id="{2DA6A04E-0CCC-4E1E-AE4E-DAF17AC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actual-label">
            <a:extLst xmlns:a="http://schemas.openxmlformats.org/drawingml/2006/main">
              <a:ext uri="{FF2B5EF4-FFF2-40B4-BE49-F238E27FC236}">
                <a16:creationId xmlns:a16="http://schemas.microsoft.com/office/drawing/2014/main" id="{5768E954-50E8-4BB4-83E0-039C4057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SQL TIMESTAMP</a:t>
            </a:r>
          </a:p>
        </p:txBody>
      </p:sp>
      <p:sp>
        <p:nvSpPr>
          <p:cNvPr id="7" name="cover-actual-value">
            <a:extLst xmlns:a="http://schemas.openxmlformats.org/drawingml/2006/main">
              <a:ext uri="{FF2B5EF4-FFF2-40B4-BE49-F238E27FC236}">
                <a16:creationId xmlns:a16="http://schemas.microsoft.com/office/drawing/2014/main" id="{78E2F644-CF2E-431C-B56D-E35657E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81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8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00:02:34</a:t>
            </a:r>
          </a:p>
        </p:txBody>
      </p:sp>
      <p:sp>
        <p:nvSpPr>
          <p:cNvPr id="8" name="cover-actual-type">
            <a:extLst xmlns:a="http://schemas.openxmlformats.org/drawingml/2006/main">
              <a:ext uri="{FF2B5EF4-FFF2-40B4-BE49-F238E27FC236}">
                <a16:creationId xmlns:a16="http://schemas.microsoft.com/office/drawing/2014/main" id="{8B3544EE-718F-480B-B06B-6A701D4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383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58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trade_record_timestamp</a:t>
            </a:r>
          </a:p>
        </p:txBody>
      </p:sp>
      <p:sp>
        <p:nvSpPr>
          <p:cNvPr id="9" name="cover-not-equal">
            <a:extLst xmlns:a="http://schemas.openxmlformats.org/drawingml/2006/main">
              <a:ext uri="{FF2B5EF4-FFF2-40B4-BE49-F238E27FC236}">
                <a16:creationId xmlns:a16="http://schemas.microsoft.com/office/drawing/2014/main" id="{EEEEE3C3-5CC1-4496-80A7-AC592F1E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0" name="cover-required">
            <a:extLst xmlns:a="http://schemas.openxmlformats.org/drawingml/2006/main">
              <a:ext uri="{FF2B5EF4-FFF2-40B4-BE49-F238E27FC236}">
                <a16:creationId xmlns:a16="http://schemas.microsoft.com/office/drawing/2014/main" id="{F95FFC7D-3356-4079-965F-C4AA4330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762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cover-required-label">
            <a:extLst xmlns:a="http://schemas.openxmlformats.org/drawingml/2006/main">
              <a:ext uri="{FF2B5EF4-FFF2-40B4-BE49-F238E27FC236}">
                <a16:creationId xmlns:a16="http://schemas.microsoft.com/office/drawing/2014/main" id="{CB810065-2C34-41FC-B3DF-7CD99FA5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SQL TIMESTAMP</a:t>
            </a:r>
          </a:p>
        </p:txBody>
      </p:sp>
      <p:sp>
        <p:nvSpPr>
          <p:cNvPr id="12" name="cover-required-value">
            <a:extLst xmlns:a="http://schemas.openxmlformats.org/drawingml/2006/main">
              <a:ext uri="{FF2B5EF4-FFF2-40B4-BE49-F238E27FC236}">
                <a16:creationId xmlns:a16="http://schemas.microsoft.com/office/drawing/2014/main" id="{739BCC22-633F-4D45-B311-F529868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8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00:01:13</a:t>
            </a:r>
          </a:p>
        </p:txBody>
      </p:sp>
      <p:sp>
        <p:nvSpPr>
          <p:cNvPr id="13" name="cover-required-type">
            <a:extLst xmlns:a="http://schemas.openxmlformats.org/drawingml/2006/main">
              <a:ext uri="{FF2B5EF4-FFF2-40B4-BE49-F238E27FC236}">
                <a16:creationId xmlns:a16="http://schemas.microsoft.com/office/drawing/2014/main" id="{92BE2537-7943-489E-9CD6-70A3C93F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95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8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trade_creation_timestamp</a:t>
            </a:r>
          </a:p>
        </p:txBody>
      </p:sp>
      <p:sp>
        <p:nvSpPr>
          <p:cNvPr id="1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334C46DD-D4D9-47D0-A0BF-2876098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For Dave · data architecture peer review</a:t>
            </a:r>
          </a:p>
        </p:txBody>
      </p:sp>
    </p:spTree>
    <p:extLst>
      <p:ext uri="{BB962C8B-B14F-4D97-AF65-F5344CB8AC3E}">
        <p14:creationId xmlns:p14="http://schemas.microsoft.com/office/powerpoint/2010/main" val="55443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2">
            <a:extLst xmlns:a="http://schemas.openxmlformats.org/drawingml/2006/main">
              <a:ext uri="{FF2B5EF4-FFF2-40B4-BE49-F238E27FC236}">
                <a16:creationId xmlns:a16="http://schemas.microsoft.com/office/drawing/2014/main" id="{BCB11A21-4326-40A4-8B73-81B9E15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pipeline can be locally green and globally wrong</a:t>
            </a:r>
          </a:p>
        </p:txBody>
      </p:sp>
      <p:cxnSp>
        <p:nvCxnSpPr>
          <p:cNvPr id="30" name="title-rule-2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064AFDE6-AC6D-4644-8ABF-4990E72D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2">
            <a:extLst xmlns:a="http://schemas.openxmlformats.org/drawingml/2006/main">
              <a:ext uri="{FF2B5EF4-FFF2-40B4-BE49-F238E27FC236}">
                <a16:creationId xmlns:a16="http://schemas.microsoft.com/office/drawing/2014/main" id="{4701C401-4C21-4540-AD89-BD43B3B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3" name="s2-a1"/>
          <p:cNvCxnSpPr/>
          <p:nvPr/>
        </p:nvCxnSpPr>
        <p:spPr>
          <a:xfrm xmlns:a="http://schemas.openxmlformats.org/drawingml/2006/main">
            <a:off x="2714625" y="27908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s2-a2"/>
          <p:cNvCxnSpPr/>
          <p:nvPr/>
        </p:nvCxnSpPr>
        <p:spPr>
          <a:xfrm xmlns:a="http://schemas.openxmlformats.org/drawingml/2006/main">
            <a:off x="5810250" y="27908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s2-a3"/>
          <p:cNvCxnSpPr/>
          <p:nvPr/>
        </p:nvCxnSpPr>
        <p:spPr>
          <a:xfrm xmlns:a="http://schemas.openxmlformats.org/drawingml/2006/main">
            <a:off x="8905875" y="27908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s2-box-0">
            <a:extLst xmlns:a="http://schemas.openxmlformats.org/drawingml/2006/main">
              <a:ext uri="{FF2B5EF4-FFF2-40B4-BE49-F238E27FC236}">
                <a16:creationId xmlns:a16="http://schemas.microsoft.com/office/drawing/2014/main" id="{771243FA-0261-4A07-86D4-BF4FF459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9" name="s2-name-0">
            <a:extLst xmlns:a="http://schemas.openxmlformats.org/drawingml/2006/main">
              <a:ext uri="{FF2B5EF4-FFF2-40B4-BE49-F238E27FC236}">
                <a16:creationId xmlns:a16="http://schemas.microsoft.com/office/drawing/2014/main" id="{A8496B7E-923B-4FF4-9497-FE7073C6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 producer</a:t>
            </a:r>
          </a:p>
        </p:txBody>
      </p:sp>
      <p:sp>
        <p:nvSpPr>
          <p:cNvPr id="10" name="s2-status-0">
            <a:extLst xmlns:a="http://schemas.openxmlformats.org/drawingml/2006/main">
              <a:ext uri="{FF2B5EF4-FFF2-40B4-BE49-F238E27FC236}">
                <a16:creationId xmlns:a16="http://schemas.microsoft.com/office/drawing/2014/main" id="{D4526EBD-0BF9-44A8-9B0C-432A5CC0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1" name="s2-desc-0">
            <a:extLst xmlns:a="http://schemas.openxmlformats.org/drawingml/2006/main">
              <a:ext uri="{FF2B5EF4-FFF2-40B4-BE49-F238E27FC236}">
                <a16:creationId xmlns:a16="http://schemas.microsoft.com/office/drawing/2014/main" id="{08C4E26C-8880-4DBF-9CED-A5B0B74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T_DTS remains</a:t>
            </a:r>
          </a:p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trade_record_timestamp</a:t>
            </a:r>
          </a:p>
        </p:txBody>
      </p:sp>
      <p:sp>
        <p:nvSpPr>
          <p:cNvPr id="12" name="s2-box-1">
            <a:extLst xmlns:a="http://schemas.openxmlformats.org/drawingml/2006/main">
              <a:ext uri="{FF2B5EF4-FFF2-40B4-BE49-F238E27FC236}">
                <a16:creationId xmlns:a16="http://schemas.microsoft.com/office/drawing/2014/main" id="{013252C2-55D7-478D-AC74-AE47381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3" name="s2-name-1">
            <a:extLst xmlns:a="http://schemas.openxmlformats.org/drawingml/2006/main">
              <a:ext uri="{FF2B5EF4-FFF2-40B4-BE49-F238E27FC236}">
                <a16:creationId xmlns:a16="http://schemas.microsoft.com/office/drawing/2014/main" id="{0099C795-91F6-4BF2-8C6B-E3D4EC4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2098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TradeHistory producer</a:t>
            </a:r>
          </a:p>
        </p:txBody>
      </p:sp>
      <p:sp>
        <p:nvSpPr>
          <p:cNvPr id="14" name="s2-status-1">
            <a:extLst xmlns:a="http://schemas.openxmlformats.org/drawingml/2006/main">
              <a:ext uri="{FF2B5EF4-FFF2-40B4-BE49-F238E27FC236}">
                <a16:creationId xmlns:a16="http://schemas.microsoft.com/office/drawing/2014/main" id="{2C559807-FB0F-4409-8CDD-31DCD95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432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5" name="s2-desc-1">
            <a:extLst xmlns:a="http://schemas.openxmlformats.org/drawingml/2006/main">
              <a:ext uri="{FF2B5EF4-FFF2-40B4-BE49-F238E27FC236}">
                <a16:creationId xmlns:a16="http://schemas.microsoft.com/office/drawing/2014/main" id="{D210FBC4-AB45-4FA8-B002-046E513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4325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TH_DTS remains</a:t>
            </a:r>
          </a:p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status_update_timestamp</a:t>
            </a:r>
          </a:p>
        </p:txBody>
      </p:sp>
      <p:sp>
        <p:nvSpPr>
          <p:cNvPr id="16" name="s2-box-2">
            <a:extLst xmlns:a="http://schemas.openxmlformats.org/drawingml/2006/main">
              <a:ext uri="{FF2B5EF4-FFF2-40B4-BE49-F238E27FC236}">
                <a16:creationId xmlns:a16="http://schemas.microsoft.com/office/drawing/2014/main" id="{EE4C9E00-C3FE-45C9-9E94-717F1B06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7" name="s2-name-2">
            <a:extLst xmlns:a="http://schemas.openxmlformats.org/drawingml/2006/main">
              <a:ext uri="{FF2B5EF4-FFF2-40B4-BE49-F238E27FC236}">
                <a16:creationId xmlns:a16="http://schemas.microsoft.com/office/drawing/2014/main" id="{E684C851-FEF6-4896-8252-A55AEA5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DimTrade consumer</a:t>
            </a:r>
          </a:p>
        </p:txBody>
      </p:sp>
      <p:sp>
        <p:nvSpPr>
          <p:cNvPr id="18" name="s2-status-2">
            <a:extLst xmlns:a="http://schemas.openxmlformats.org/drawingml/2006/main">
              <a:ext uri="{FF2B5EF4-FFF2-40B4-BE49-F238E27FC236}">
                <a16:creationId xmlns:a16="http://schemas.microsoft.com/office/drawing/2014/main" id="{A20B6A17-558E-4716-ABF7-B73C082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" name="s2-desc-2">
            <a:extLst xmlns:a="http://schemas.openxmlformats.org/drawingml/2006/main">
              <a:ext uri="{FF2B5EF4-FFF2-40B4-BE49-F238E27FC236}">
                <a16:creationId xmlns:a16="http://schemas.microsoft.com/office/drawing/2014/main" id="{413697EB-42E1-4FEC-9DF0-B17BFD7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Copies an already typed</a:t>
            </a:r>
          </a:p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lifecycle handoff</a:t>
            </a:r>
          </a:p>
        </p:txBody>
      </p:sp>
      <p:sp>
        <p:nvSpPr>
          <p:cNvPr id="20" name="s2-box-3">
            <a:extLst xmlns:a="http://schemas.openxmlformats.org/drawingml/2006/main">
              <a:ext uri="{FF2B5EF4-FFF2-40B4-BE49-F238E27FC236}">
                <a16:creationId xmlns:a16="http://schemas.microsoft.com/office/drawing/2014/main" id="{F3C4D8BA-9CAF-40B8-8B00-95D394B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00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E3E3"/>
          </a:solidFill>
          <a:ln xmlns:a="http://schemas.openxmlformats.org/drawingml/2006/main" w="9525">
            <a:solidFill>
              <a:srgbClr val="D94B4B"/>
            </a:solidFill>
            <a:prstDash val="solid"/>
          </a:ln>
        </p:spPr>
      </p:sp>
      <p:sp>
        <p:nvSpPr>
          <p:cNvPr id="21" name="s2-name-3">
            <a:extLst xmlns:a="http://schemas.openxmlformats.org/drawingml/2006/main">
              <a:ext uri="{FF2B5EF4-FFF2-40B4-BE49-F238E27FC236}">
                <a16:creationId xmlns:a16="http://schemas.microsoft.com/office/drawing/2014/main" id="{E62B2AC7-FC38-4980-98F3-4083F161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09800"/>
            <a:ext cx="1990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Composed edge</a:t>
            </a:r>
          </a:p>
        </p:txBody>
      </p:sp>
      <p:sp>
        <p:nvSpPr>
          <p:cNvPr id="22" name="s2-status-3">
            <a:extLst xmlns:a="http://schemas.openxmlformats.org/drawingml/2006/main">
              <a:ext uri="{FF2B5EF4-FFF2-40B4-BE49-F238E27FC236}">
                <a16:creationId xmlns:a16="http://schemas.microsoft.com/office/drawing/2014/main" id="{A08A71BA-AE91-4F81-AAFA-5C227C2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432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23" name="s2-desc-3">
            <a:extLst xmlns:a="http://schemas.openxmlformats.org/drawingml/2006/main">
              <a:ext uri="{FF2B5EF4-FFF2-40B4-BE49-F238E27FC236}">
                <a16:creationId xmlns:a16="http://schemas.microsoft.com/office/drawing/2014/main" id="{D7FDAC7B-A7C3-4C90-8049-6E68D5F6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4325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record_timestamp supplied as</a:t>
            </a:r>
          </a:p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creation_timestamp</a:t>
            </a:r>
          </a:p>
        </p:txBody>
      </p:sp>
      <p:sp>
        <p:nvSpPr>
          <p:cNvPr id="24" name="s2-bottom">
            <a:extLst xmlns:a="http://schemas.openxmlformats.org/drawingml/2006/main">
              <a:ext uri="{FF2B5EF4-FFF2-40B4-BE49-F238E27FC236}">
                <a16:creationId xmlns:a16="http://schemas.microsoft.com/office/drawing/2014/main" id="{62EFDBC8-2BD7-4177-A84D-CAFBD6B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1620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2-bottom-title">
            <a:extLst xmlns:a="http://schemas.openxmlformats.org/drawingml/2006/main">
              <a:ext uri="{FF2B5EF4-FFF2-40B4-BE49-F238E27FC236}">
                <a16:creationId xmlns:a16="http://schemas.microsoft.com/office/drawing/2014/main" id="{44607D9B-8B6D-4025-9155-770FA62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fault is not bad data or invalid SQL. It is a broken semantic handoff.</a:t>
            </a:r>
          </a:p>
        </p:txBody>
      </p:sp>
      <p:sp>
        <p:nvSpPr>
          <p:cNvPr id="26" name="s2-bottom-left">
            <a:extLst xmlns:a="http://schemas.openxmlformats.org/drawingml/2006/main">
              <a:ext uri="{FF2B5EF4-FFF2-40B4-BE49-F238E27FC236}">
                <a16:creationId xmlns:a16="http://schemas.microsoft.com/office/drawing/2014/main" id="{35F68B61-DB41-44B2-9BFF-E20FD7DC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Observed  00:02:34</a:t>
            </a:r>
          </a:p>
        </p:txBody>
      </p:sp>
      <p:sp>
        <p:nvSpPr>
          <p:cNvPr id="27" name="s2-bottom-mid">
            <a:extLst xmlns:a="http://schemas.openxmlformats.org/drawingml/2006/main">
              <a:ext uri="{FF2B5EF4-FFF2-40B4-BE49-F238E27FC236}">
                <a16:creationId xmlns:a16="http://schemas.microsoft.com/office/drawing/2014/main" id="{19A29DDC-5D88-43D0-A5F8-1D522F5E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53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TPC-DI 4.5.8.2</a:t>
            </a:r>
          </a:p>
        </p:txBody>
      </p:sp>
      <p:sp>
        <p:nvSpPr>
          <p:cNvPr id="28" name="s2-bottom-right">
            <a:extLst xmlns:a="http://schemas.openxmlformats.org/drawingml/2006/main">
              <a:ext uri="{FF2B5EF4-FFF2-40B4-BE49-F238E27FC236}">
                <a16:creationId xmlns:a16="http://schemas.microsoft.com/office/drawing/2014/main" id="{5D62306C-34F7-4B9D-A36F-DEB8627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Required  00:01:13</a:t>
            </a:r>
          </a:p>
        </p:txBody>
      </p:sp>
    </p:spTree>
    <p:extLst>
      <p:ext uri="{BB962C8B-B14F-4D97-AF65-F5344CB8AC3E}">
        <p14:creationId xmlns:p14="http://schemas.microsoft.com/office/powerpoint/2010/main" val="1710886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-3">
            <a:extLst xmlns:a="http://schemas.openxmlformats.org/drawingml/2006/main">
              <a:ext uri="{FF2B5EF4-FFF2-40B4-BE49-F238E27FC236}">
                <a16:creationId xmlns:a16="http://schemas.microsoft.com/office/drawing/2014/main" id="{91975F18-9DE3-495A-9564-A0E6D1F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stays above the executable DAG</a:t>
            </a:r>
          </a:p>
        </p:txBody>
      </p:sp>
      <p:cxnSp>
        <p:nvCxnSpPr>
          <p:cNvPr id="34" name="title-rule-3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3AC13AF9-EBC3-48DF-9330-6A8294B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3">
            <a:extLst xmlns:a="http://schemas.openxmlformats.org/drawingml/2006/main">
              <a:ext uri="{FF2B5EF4-FFF2-40B4-BE49-F238E27FC236}">
                <a16:creationId xmlns:a16="http://schemas.microsoft.com/office/drawing/2014/main" id="{D1DABEFB-C783-499D-BDDE-F39C2FC1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37" name="s3-down-1"/>
          <p:cNvCxnSpPr/>
          <p:nvPr/>
        </p:nvCxnSpPr>
        <p:spPr>
          <a:xfrm xmlns:a="http://schemas.openxmlformats.org/drawingml/2006/main">
            <a:off x="6057900" y="24003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8" name="s3-down-2"/>
          <p:cNvCxnSpPr/>
          <p:nvPr/>
        </p:nvCxnSpPr>
        <p:spPr>
          <a:xfrm xmlns:a="http://schemas.openxmlformats.org/drawingml/2006/main">
            <a:off x="6057900" y="39052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9" name="s3-loop"/>
          <p:cNvCxnSpPr/>
          <p:nvPr/>
        </p:nvCxnSpPr>
        <p:spPr>
          <a:xfrm xmlns:a="http://schemas.openxmlformats.org/drawingml/2006/main">
            <a:off x="2095500" y="5095875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s3-band1-label">
            <a:extLst xmlns:a="http://schemas.openxmlformats.org/drawingml/2006/main">
              <a:ext uri="{FF2B5EF4-FFF2-40B4-BE49-F238E27FC236}">
                <a16:creationId xmlns:a16="http://schemas.microsoft.com/office/drawing/2014/main" id="{ECDB5C58-497E-4779-A5D3-AC5883CC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GOVERNANCE PLANE</a:t>
            </a:r>
          </a:p>
        </p:txBody>
      </p:sp>
      <p:sp>
        <p:nvSpPr>
          <p:cNvPr id="9" name="s3-gov-band">
            <a:extLst xmlns:a="http://schemas.openxmlformats.org/drawingml/2006/main">
              <a:ext uri="{FF2B5EF4-FFF2-40B4-BE49-F238E27FC236}">
                <a16:creationId xmlns:a16="http://schemas.microsoft.com/office/drawing/2014/main" id="{86518C6C-38CC-4B38-BB2C-FC81877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00200"/>
            <a:ext cx="923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s3-gov-t-0">
            <a:extLst xmlns:a="http://schemas.openxmlformats.org/drawingml/2006/main">
              <a:ext uri="{FF2B5EF4-FFF2-40B4-BE49-F238E27FC236}">
                <a16:creationId xmlns:a16="http://schemas.microsoft.com/office/drawing/2014/main" id="{AA74A1F4-9F60-4839-A690-1B103ED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09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Sketch</a:t>
            </a:r>
          </a:p>
        </p:txBody>
      </p:sp>
      <p:sp>
        <p:nvSpPr>
          <p:cNvPr id="11" name="s3-gov-d-0">
            <a:extLst xmlns:a="http://schemas.openxmlformats.org/drawingml/2006/main">
              <a:ext uri="{FF2B5EF4-FFF2-40B4-BE49-F238E27FC236}">
                <a16:creationId xmlns:a16="http://schemas.microsoft.com/office/drawing/2014/main" id="{9B0CD93B-116D-4EF2-AF21-3C20F17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43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known rules + holes</a:t>
            </a:r>
          </a:p>
        </p:txBody>
      </p:sp>
      <p:sp>
        <p:nvSpPr>
          <p:cNvPr id="12" name="s3-gov-t-1">
            <a:extLst xmlns:a="http://schemas.openxmlformats.org/drawingml/2006/main">
              <a:ext uri="{FF2B5EF4-FFF2-40B4-BE49-F238E27FC236}">
                <a16:creationId xmlns:a16="http://schemas.microsoft.com/office/drawing/2014/main" id="{36857E16-212F-40F7-8A7A-9929A9F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809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Anchors</a:t>
            </a:r>
          </a:p>
        </p:txBody>
      </p:sp>
      <p:sp>
        <p:nvSpPr>
          <p:cNvPr id="13" name="s3-gov-d-1">
            <a:extLst xmlns:a="http://schemas.openxmlformats.org/drawingml/2006/main">
              <a:ext uri="{FF2B5EF4-FFF2-40B4-BE49-F238E27FC236}">
                <a16:creationId xmlns:a16="http://schemas.microsoft.com/office/drawing/2014/main" id="{4A0AE004-E85A-430E-AE43-7941A933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43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grain · identity · types</a:t>
            </a:r>
          </a:p>
        </p:txBody>
      </p:sp>
      <p:sp>
        <p:nvSpPr>
          <p:cNvPr id="14" name="s3-gov-t-2">
            <a:extLst xmlns:a="http://schemas.openxmlformats.org/drawingml/2006/main">
              <a:ext uri="{FF2B5EF4-FFF2-40B4-BE49-F238E27FC236}">
                <a16:creationId xmlns:a16="http://schemas.microsoft.com/office/drawing/2014/main" id="{6C669277-8DC8-4364-BFCD-A33D2FA9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15" name="s3-gov-d-2">
            <a:extLst xmlns:a="http://schemas.openxmlformats.org/drawingml/2006/main">
              <a:ext uri="{FF2B5EF4-FFF2-40B4-BE49-F238E27FC236}">
                <a16:creationId xmlns:a16="http://schemas.microsoft.com/office/drawing/2014/main" id="{E6EEB03C-691D-4D64-B66C-D583AE2D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43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allowed / forbidden change</a:t>
            </a:r>
          </a:p>
        </p:txBody>
      </p:sp>
      <p:sp>
        <p:nvSpPr>
          <p:cNvPr id="16" name="s3-gov-t-3">
            <a:extLst xmlns:a="http://schemas.openxmlformats.org/drawingml/2006/main">
              <a:ext uri="{FF2B5EF4-FFF2-40B4-BE49-F238E27FC236}">
                <a16:creationId xmlns:a16="http://schemas.microsoft.com/office/drawing/2014/main" id="{078255E4-8DFE-4A08-B290-EA3AC16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09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 archive + R</a:t>
            </a:r>
          </a:p>
        </p:txBody>
      </p:sp>
      <p:sp>
        <p:nvSpPr>
          <p:cNvPr id="17" name="s3-gov-d-3">
            <a:extLst xmlns:a="http://schemas.openxmlformats.org/drawingml/2006/main">
              <a:ext uri="{FF2B5EF4-FFF2-40B4-BE49-F238E27FC236}">
                <a16:creationId xmlns:a16="http://schemas.microsoft.com/office/drawing/2014/main" id="{7ADD1D93-BE46-4F61-9D07-B1291B7E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143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learning + curated protection</a:t>
            </a:r>
          </a:p>
        </p:txBody>
      </p:sp>
      <p:sp>
        <p:nvSpPr>
          <p:cNvPr id="18" name="s3-band2-label">
            <a:extLst xmlns:a="http://schemas.openxmlformats.org/drawingml/2006/main">
              <a:ext uri="{FF2B5EF4-FFF2-40B4-BE49-F238E27FC236}">
                <a16:creationId xmlns:a16="http://schemas.microsoft.com/office/drawing/2014/main" id="{CC1A1853-DB9B-4290-A816-0A62EF0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COMPILER</a:t>
            </a:r>
          </a:p>
        </p:txBody>
      </p:sp>
      <p:sp>
        <p:nvSpPr>
          <p:cNvPr id="19" name="s3-compiler">
            <a:extLst xmlns:a="http://schemas.openxmlformats.org/drawingml/2006/main">
              <a:ext uri="{FF2B5EF4-FFF2-40B4-BE49-F238E27FC236}">
                <a16:creationId xmlns:a16="http://schemas.microsoft.com/office/drawing/2014/main" id="{DFBB6021-4524-455C-A2CE-FD3DF033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33700"/>
            <a:ext cx="43053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3-compiler-title">
            <a:extLst xmlns:a="http://schemas.openxmlformats.org/drawingml/2006/main">
              <a:ext uri="{FF2B5EF4-FFF2-40B4-BE49-F238E27FC236}">
                <a16:creationId xmlns:a16="http://schemas.microsoft.com/office/drawing/2014/main" id="{18E57AA9-9A13-4701-AE1E-77A7DFEC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 semantic compiler</a:t>
            </a:r>
          </a:p>
        </p:txBody>
      </p:sp>
      <p:sp>
        <p:nvSpPr>
          <p:cNvPr id="21" name="s3-compiler-desc">
            <a:extLst xmlns:a="http://schemas.openxmlformats.org/drawingml/2006/main">
              <a:ext uri="{FF2B5EF4-FFF2-40B4-BE49-F238E27FC236}">
                <a16:creationId xmlns:a16="http://schemas.microsoft.com/office/drawing/2014/main" id="{1FD80845-30BA-4C55-AC8A-0F773D2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fail-closed profile · SQLGlot ASTs · exact lineage manifest</a:t>
            </a:r>
          </a:p>
        </p:txBody>
      </p:sp>
      <p:sp>
        <p:nvSpPr>
          <p:cNvPr id="22" name="s3-band3-label">
            <a:extLst xmlns:a="http://schemas.openxmlformats.org/drawingml/2006/main">
              <a:ext uri="{FF2B5EF4-FFF2-40B4-BE49-F238E27FC236}">
                <a16:creationId xmlns:a16="http://schemas.microsoft.com/office/drawing/2014/main" id="{AC6C9DE9-5AEA-4128-BFD6-668E0DB5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EXECUTION PLANE</a:t>
            </a:r>
          </a:p>
        </p:txBody>
      </p:sp>
      <p:sp>
        <p:nvSpPr>
          <p:cNvPr id="23" name="s3-exec-band">
            <a:extLst xmlns:a="http://schemas.openxmlformats.org/drawingml/2006/main">
              <a:ext uri="{FF2B5EF4-FFF2-40B4-BE49-F238E27FC236}">
                <a16:creationId xmlns:a16="http://schemas.microsoft.com/office/drawing/2014/main" id="{5525920D-9B06-4C7C-96A2-5FA9E02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923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3-exe-t-0">
            <a:extLst xmlns:a="http://schemas.openxmlformats.org/drawingml/2006/main">
              <a:ext uri="{FF2B5EF4-FFF2-40B4-BE49-F238E27FC236}">
                <a16:creationId xmlns:a16="http://schemas.microsoft.com/office/drawing/2014/main" id="{3EE13FF6-8860-494F-8F7D-246D7166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SQLMesh</a:t>
            </a:r>
          </a:p>
        </p:txBody>
      </p:sp>
      <p:sp>
        <p:nvSpPr>
          <p:cNvPr id="25" name="s3-exe-d-0">
            <a:extLst xmlns:a="http://schemas.openxmlformats.org/drawingml/2006/main">
              <a:ext uri="{FF2B5EF4-FFF2-40B4-BE49-F238E27FC236}">
                <a16:creationId xmlns:a16="http://schemas.microsoft.com/office/drawing/2014/main" id="{27842B8C-C24C-4C6E-895E-EE68F29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81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models + executable DAG</a:t>
            </a:r>
          </a:p>
        </p:txBody>
      </p:sp>
      <p:sp>
        <p:nvSpPr>
          <p:cNvPr id="26" name="s3-exe-t-1">
            <a:extLst xmlns:a="http://schemas.openxmlformats.org/drawingml/2006/main">
              <a:ext uri="{FF2B5EF4-FFF2-40B4-BE49-F238E27FC236}">
                <a16:creationId xmlns:a16="http://schemas.microsoft.com/office/drawing/2014/main" id="{BB121D26-B70F-43C9-B949-9EBC8896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SQL</a:t>
            </a:r>
          </a:p>
        </p:txBody>
      </p:sp>
      <p:sp>
        <p:nvSpPr>
          <p:cNvPr id="27" name="s3-exe-d-1">
            <a:extLst xmlns:a="http://schemas.openxmlformats.org/drawingml/2006/main">
              <a:ext uri="{FF2B5EF4-FFF2-40B4-BE49-F238E27FC236}">
                <a16:creationId xmlns:a16="http://schemas.microsoft.com/office/drawing/2014/main" id="{4EF63793-A1EF-49B4-9B52-89A7397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81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replaceable projection</a:t>
            </a:r>
          </a:p>
        </p:txBody>
      </p:sp>
      <p:sp>
        <p:nvSpPr>
          <p:cNvPr id="28" name="s3-exe-t-2">
            <a:extLst xmlns:a="http://schemas.openxmlformats.org/drawingml/2006/main">
              <a:ext uri="{FF2B5EF4-FFF2-40B4-BE49-F238E27FC236}">
                <a16:creationId xmlns:a16="http://schemas.microsoft.com/office/drawing/2014/main" id="{FE1E2523-3FD4-416E-B89A-2245C6E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DuckDB</a:t>
            </a:r>
          </a:p>
        </p:txBody>
      </p:sp>
      <p:sp>
        <p:nvSpPr>
          <p:cNvPr id="29" name="s3-exe-d-2">
            <a:extLst xmlns:a="http://schemas.openxmlformats.org/drawingml/2006/main">
              <a:ext uri="{FF2B5EF4-FFF2-40B4-BE49-F238E27FC236}">
                <a16:creationId xmlns:a16="http://schemas.microsoft.com/office/drawing/2014/main" id="{32C5A2FA-1A46-4296-ADB8-9775263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81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materialized behavior</a:t>
            </a:r>
          </a:p>
        </p:txBody>
      </p:sp>
      <p:sp>
        <p:nvSpPr>
          <p:cNvPr id="30" name="s3-exe-t-3">
            <a:extLst xmlns:a="http://schemas.openxmlformats.org/drawingml/2006/main">
              <a:ext uri="{FF2B5EF4-FFF2-40B4-BE49-F238E27FC236}">
                <a16:creationId xmlns:a16="http://schemas.microsoft.com/office/drawing/2014/main" id="{A66EA6F3-D81D-4003-81CC-1BEB95A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Audits</a:t>
            </a:r>
          </a:p>
        </p:txBody>
      </p:sp>
      <p:sp>
        <p:nvSpPr>
          <p:cNvPr id="31" name="s3-exe-d-3">
            <a:extLst xmlns:a="http://schemas.openxmlformats.org/drawingml/2006/main">
              <a:ext uri="{FF2B5EF4-FFF2-40B4-BE49-F238E27FC236}">
                <a16:creationId xmlns:a16="http://schemas.microsoft.com/office/drawing/2014/main" id="{A42C8BA6-1C95-473A-A19E-D0D8D29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815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deterministic evidence</a:t>
            </a:r>
          </a:p>
        </p:txBody>
      </p:sp>
      <p:sp>
        <p:nvSpPr>
          <p:cNvPr id="32" name="s3-loop-label">
            <a:extLst xmlns:a="http://schemas.openxmlformats.org/drawingml/2006/main">
              <a:ext uri="{FF2B5EF4-FFF2-40B4-BE49-F238E27FC236}">
                <a16:creationId xmlns:a16="http://schemas.microsoft.com/office/drawing/2014/main" id="{4DA59FD6-E230-44DA-B814-D9B8851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Simulation → approved-output gate + Sketch review → governed learning</a:t>
            </a:r>
          </a:p>
        </p:txBody>
      </p:sp>
    </p:spTree>
    <p:extLst>
      <p:ext uri="{BB962C8B-B14F-4D97-AF65-F5344CB8AC3E}">
        <p14:creationId xmlns:p14="http://schemas.microsoft.com/office/powerpoint/2010/main" val="1384023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itle-4">
            <a:extLst xmlns:a="http://schemas.openxmlformats.org/drawingml/2006/main">
              <a:ext uri="{FF2B5EF4-FFF2-40B4-BE49-F238E27FC236}">
                <a16:creationId xmlns:a16="http://schemas.microsoft.com/office/drawing/2014/main" id="{174790A0-E45D-4CF6-ACF3-2B70CE02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artifact has one job—and one kind of authority</a:t>
            </a:r>
          </a:p>
        </p:txBody>
      </p:sp>
      <p:cxnSp>
        <p:nvCxnSpPr>
          <p:cNvPr id="40" name="title-rule-4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2288CA2D-494E-4280-B176-1A82383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4">
            <a:extLst xmlns:a="http://schemas.openxmlformats.org/drawingml/2006/main">
              <a:ext uri="{FF2B5EF4-FFF2-40B4-BE49-F238E27FC236}">
                <a16:creationId xmlns:a16="http://schemas.microsoft.com/office/drawing/2014/main" id="{520D92A7-5B39-47DC-BA57-11158B2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s4-col-0">
            <a:extLst xmlns:a="http://schemas.openxmlformats.org/drawingml/2006/main">
              <a:ext uri="{FF2B5EF4-FFF2-40B4-BE49-F238E27FC236}">
                <a16:creationId xmlns:a16="http://schemas.microsoft.com/office/drawing/2014/main" id="{29C9A3F8-F8B4-4C39-97D7-65F2528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3314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4-head-0">
            <a:extLst xmlns:a="http://schemas.openxmlformats.org/drawingml/2006/main">
              <a:ext uri="{FF2B5EF4-FFF2-40B4-BE49-F238E27FC236}">
                <a16:creationId xmlns:a16="http://schemas.microsoft.com/office/drawing/2014/main" id="{C3B913BB-CAAB-4625-B750-504FD1E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Governs meaning</a:t>
            </a:r>
          </a:p>
        </p:txBody>
      </p:sp>
      <p:cxnSp>
        <p:nvCxnSpPr>
          <p:cNvPr id="45" name="s4-rule-0"/>
          <p:cNvCxnSpPr/>
          <p:nvPr/>
        </p:nvCxnSpPr>
        <p:spPr>
          <a:xfrm xmlns:a="http://schemas.openxmlformats.org/drawingml/2006/main">
            <a:off x="800100" y="2571750"/>
            <a:ext cx="2819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D8DFF"/>
            </a:solidFill>
            <a:prstDash val="solid"/>
          </a:ln>
        </p:spPr>
      </p:cxnSp>
      <p:sp>
        <p:nvSpPr>
          <p:cNvPr id="8" name="s4-b-0-0-dot">
            <a:extLst xmlns:a="http://schemas.openxmlformats.org/drawingml/2006/main">
              <a:ext uri="{FF2B5EF4-FFF2-40B4-BE49-F238E27FC236}">
                <a16:creationId xmlns:a16="http://schemas.microsoft.com/office/drawing/2014/main" id="{DDB8A7F8-1BAA-4489-8146-A84DC9E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4-b-0-0">
            <a:extLst xmlns:a="http://schemas.openxmlformats.org/drawingml/2006/main">
              <a:ext uri="{FF2B5EF4-FFF2-40B4-BE49-F238E27FC236}">
                <a16:creationId xmlns:a16="http://schemas.microsoft.com/office/drawing/2014/main" id="{8633FD97-CCB2-4485-99AB-69AE191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Sketch</a:t>
            </a:r>
          </a:p>
        </p:txBody>
      </p:sp>
      <p:sp>
        <p:nvSpPr>
          <p:cNvPr id="10" name="s4-b-0-1-dot">
            <a:extLst xmlns:a="http://schemas.openxmlformats.org/drawingml/2006/main">
              <a:ext uri="{FF2B5EF4-FFF2-40B4-BE49-F238E27FC236}">
                <a16:creationId xmlns:a16="http://schemas.microsoft.com/office/drawing/2014/main" id="{05AAC50E-776F-40FB-8DD1-182895B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4-b-0-1">
            <a:extLst xmlns:a="http://schemas.openxmlformats.org/drawingml/2006/main">
              <a:ext uri="{FF2B5EF4-FFF2-40B4-BE49-F238E27FC236}">
                <a16:creationId xmlns:a16="http://schemas.microsoft.com/office/drawing/2014/main" id="{6B8DD5DB-D2D5-43DC-9930-79AD623B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semantic contracts</a:t>
            </a:r>
          </a:p>
        </p:txBody>
      </p:sp>
      <p:sp>
        <p:nvSpPr>
          <p:cNvPr id="12" name="s4-b-0-2-dot">
            <a:extLst xmlns:a="http://schemas.openxmlformats.org/drawingml/2006/main">
              <a:ext uri="{FF2B5EF4-FFF2-40B4-BE49-F238E27FC236}">
                <a16:creationId xmlns:a16="http://schemas.microsoft.com/office/drawing/2014/main" id="{7C7570F4-56DE-4167-A2AE-0278F66D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4-b-0-2">
            <a:extLst xmlns:a="http://schemas.openxmlformats.org/drawingml/2006/main">
              <a:ext uri="{FF2B5EF4-FFF2-40B4-BE49-F238E27FC236}">
                <a16:creationId xmlns:a16="http://schemas.microsoft.com/office/drawing/2014/main" id="{4731A1EA-E5FD-46FB-BE43-7BD5A57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repair authority</a:t>
            </a:r>
          </a:p>
        </p:txBody>
      </p:sp>
      <p:sp>
        <p:nvSpPr>
          <p:cNvPr id="14" name="s4-b-0-3-dot">
            <a:extLst xmlns:a="http://schemas.openxmlformats.org/drawingml/2006/main">
              <a:ext uri="{FF2B5EF4-FFF2-40B4-BE49-F238E27FC236}">
                <a16:creationId xmlns:a16="http://schemas.microsoft.com/office/drawing/2014/main" id="{7FAA8B5E-8B05-4BF6-A5AA-95678D6F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s4-b-0-3">
            <a:extLst xmlns:a="http://schemas.openxmlformats.org/drawingml/2006/main">
              <a:ext uri="{FF2B5EF4-FFF2-40B4-BE49-F238E27FC236}">
                <a16:creationId xmlns:a16="http://schemas.microsoft.com/office/drawing/2014/main" id="{B9779791-07D4-4848-B995-9E26324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explicit holes</a:t>
            </a:r>
          </a:p>
        </p:txBody>
      </p:sp>
      <p:sp>
        <p:nvSpPr>
          <p:cNvPr id="16" name="s4-col-1">
            <a:extLst xmlns:a="http://schemas.openxmlformats.org/drawingml/2006/main">
              <a:ext uri="{FF2B5EF4-FFF2-40B4-BE49-F238E27FC236}">
                <a16:creationId xmlns:a16="http://schemas.microsoft.com/office/drawing/2014/main" id="{FD8BE252-4305-4C65-8B30-1D5E753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3314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4-head-1">
            <a:extLst xmlns:a="http://schemas.openxmlformats.org/drawingml/2006/main">
              <a:ext uri="{FF2B5EF4-FFF2-40B4-BE49-F238E27FC236}">
                <a16:creationId xmlns:a16="http://schemas.microsoft.com/office/drawing/2014/main" id="{3D95ECDC-B2C1-4CB6-A86C-44966F0A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Implements meaning</a:t>
            </a:r>
          </a:p>
        </p:txBody>
      </p:sp>
      <p:cxnSp>
        <p:nvCxnSpPr>
          <p:cNvPr id="56" name="s4-rule-1"/>
          <p:cNvCxnSpPr/>
          <p:nvPr/>
        </p:nvCxnSpPr>
        <p:spPr>
          <a:xfrm xmlns:a="http://schemas.openxmlformats.org/drawingml/2006/main">
            <a:off x="4705350" y="2571750"/>
            <a:ext cx="2819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s4-b-1-0-dot">
            <a:extLst xmlns:a="http://schemas.openxmlformats.org/drawingml/2006/main">
              <a:ext uri="{FF2B5EF4-FFF2-40B4-BE49-F238E27FC236}">
                <a16:creationId xmlns:a16="http://schemas.microsoft.com/office/drawing/2014/main" id="{43C16CA2-F47C-4485-8318-DD937AB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43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s4-b-1-0">
            <a:extLst xmlns:a="http://schemas.openxmlformats.org/drawingml/2006/main">
              <a:ext uri="{FF2B5EF4-FFF2-40B4-BE49-F238E27FC236}">
                <a16:creationId xmlns:a16="http://schemas.microsoft.com/office/drawing/2014/main" id="{FA5ABEAD-034C-4D6F-8A07-EF402290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SQLGlot ASTs</a:t>
            </a:r>
          </a:p>
        </p:txBody>
      </p:sp>
      <p:sp>
        <p:nvSpPr>
          <p:cNvPr id="21" name="s4-b-1-1-dot">
            <a:extLst xmlns:a="http://schemas.openxmlformats.org/drawingml/2006/main">
              <a:ext uri="{FF2B5EF4-FFF2-40B4-BE49-F238E27FC236}">
                <a16:creationId xmlns:a16="http://schemas.microsoft.com/office/drawing/2014/main" id="{63CEB114-3D9F-436F-B72B-967868FC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s4-b-1-1">
            <a:extLst xmlns:a="http://schemas.openxmlformats.org/drawingml/2006/main">
              <a:ext uri="{FF2B5EF4-FFF2-40B4-BE49-F238E27FC236}">
                <a16:creationId xmlns:a16="http://schemas.microsoft.com/office/drawing/2014/main" id="{3F41670C-23F3-43B4-9B23-70E555C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SQLMesh models</a:t>
            </a:r>
          </a:p>
        </p:txBody>
      </p:sp>
      <p:sp>
        <p:nvSpPr>
          <p:cNvPr id="23" name="s4-b-1-2-dot">
            <a:extLst xmlns:a="http://schemas.openxmlformats.org/drawingml/2006/main">
              <a:ext uri="{FF2B5EF4-FFF2-40B4-BE49-F238E27FC236}">
                <a16:creationId xmlns:a16="http://schemas.microsoft.com/office/drawing/2014/main" id="{23F6BF9A-5FDA-4EAC-859E-BF5B255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s4-b-1-2">
            <a:extLst xmlns:a="http://schemas.openxmlformats.org/drawingml/2006/main">
              <a:ext uri="{FF2B5EF4-FFF2-40B4-BE49-F238E27FC236}">
                <a16:creationId xmlns:a16="http://schemas.microsoft.com/office/drawing/2014/main" id="{4DCC7BF1-F98D-4DD2-940A-CC8A1F0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624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SQL</a:t>
            </a:r>
          </a:p>
        </p:txBody>
      </p:sp>
      <p:sp>
        <p:nvSpPr>
          <p:cNvPr id="25" name="s4-b-1-3-dot">
            <a:extLst xmlns:a="http://schemas.openxmlformats.org/drawingml/2006/main">
              <a:ext uri="{FF2B5EF4-FFF2-40B4-BE49-F238E27FC236}">
                <a16:creationId xmlns:a16="http://schemas.microsoft.com/office/drawing/2014/main" id="{A433BDCF-E9FA-4039-9A1C-851B5CF7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00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s4-b-1-3">
            <a:extLst xmlns:a="http://schemas.openxmlformats.org/drawingml/2006/main">
              <a:ext uri="{FF2B5EF4-FFF2-40B4-BE49-F238E27FC236}">
                <a16:creationId xmlns:a16="http://schemas.microsoft.com/office/drawing/2014/main" id="{1AA5533A-553C-41B8-A4FE-48EFA2B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14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DuckDB tables</a:t>
            </a:r>
          </a:p>
        </p:txBody>
      </p:sp>
      <p:sp>
        <p:nvSpPr>
          <p:cNvPr id="27" name="s4-col-2">
            <a:extLst xmlns:a="http://schemas.openxmlformats.org/drawingml/2006/main">
              <a:ext uri="{FF2B5EF4-FFF2-40B4-BE49-F238E27FC236}">
                <a16:creationId xmlns:a16="http://schemas.microsoft.com/office/drawing/2014/main" id="{F7AA85D6-7B5C-41D8-B403-F5D7BEC8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33147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4-head-2">
            <a:extLst xmlns:a="http://schemas.openxmlformats.org/drawingml/2006/main">
              <a:ext uri="{FF2B5EF4-FFF2-40B4-BE49-F238E27FC236}">
                <a16:creationId xmlns:a16="http://schemas.microsoft.com/office/drawing/2014/main" id="{40927C60-40E7-4F3C-A54E-2F47D8AB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Proves behavior</a:t>
            </a:r>
          </a:p>
        </p:txBody>
      </p:sp>
      <p:cxnSp>
        <p:nvCxnSpPr>
          <p:cNvPr id="67" name="s4-rule-2"/>
          <p:cNvCxnSpPr/>
          <p:nvPr/>
        </p:nvCxnSpPr>
        <p:spPr>
          <a:xfrm xmlns:a="http://schemas.openxmlformats.org/drawingml/2006/main">
            <a:off x="8610600" y="2571750"/>
            <a:ext cx="2819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s4-b-2-0-dot">
            <a:extLst xmlns:a="http://schemas.openxmlformats.org/drawingml/2006/main">
              <a:ext uri="{FF2B5EF4-FFF2-40B4-BE49-F238E27FC236}">
                <a16:creationId xmlns:a16="http://schemas.microsoft.com/office/drawing/2014/main" id="{C56EF165-50E7-4709-A154-50001E1D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43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s4-b-2-0">
            <a:extLst xmlns:a="http://schemas.openxmlformats.org/drawingml/2006/main">
              <a:ext uri="{FF2B5EF4-FFF2-40B4-BE49-F238E27FC236}">
                <a16:creationId xmlns:a16="http://schemas.microsoft.com/office/drawing/2014/main" id="{34A4F848-5F2C-4E27-BBE7-6699843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active case</a:t>
            </a:r>
          </a:p>
        </p:txBody>
      </p:sp>
      <p:sp>
        <p:nvSpPr>
          <p:cNvPr id="32" name="s4-b-2-1-dot">
            <a:extLst xmlns:a="http://schemas.openxmlformats.org/drawingml/2006/main">
              <a:ext uri="{FF2B5EF4-FFF2-40B4-BE49-F238E27FC236}">
                <a16:creationId xmlns:a16="http://schemas.microsoft.com/office/drawing/2014/main" id="{5E851863-5FDB-45A1-B4C8-C89E78A9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95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s4-b-2-1">
            <a:extLst xmlns:a="http://schemas.openxmlformats.org/drawingml/2006/main">
              <a:ext uri="{FF2B5EF4-FFF2-40B4-BE49-F238E27FC236}">
                <a16:creationId xmlns:a16="http://schemas.microsoft.com/office/drawing/2014/main" id="{B022017D-05DF-44BC-8884-6A6A5E3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99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curated regressions</a:t>
            </a:r>
          </a:p>
        </p:txBody>
      </p:sp>
      <p:sp>
        <p:nvSpPr>
          <p:cNvPr id="34" name="s4-b-2-2-dot">
            <a:extLst xmlns:a="http://schemas.openxmlformats.org/drawingml/2006/main">
              <a:ext uri="{FF2B5EF4-FFF2-40B4-BE49-F238E27FC236}">
                <a16:creationId xmlns:a16="http://schemas.microsoft.com/office/drawing/2014/main" id="{6C374E3E-2464-4076-AA87-A12E92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s4-b-2-2">
            <a:extLst xmlns:a="http://schemas.openxmlformats.org/drawingml/2006/main">
              <a:ext uri="{FF2B5EF4-FFF2-40B4-BE49-F238E27FC236}">
                <a16:creationId xmlns:a16="http://schemas.microsoft.com/office/drawing/2014/main" id="{D7C36CD9-28F5-46F3-9AC3-0B54779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gates</a:t>
            </a:r>
          </a:p>
        </p:txBody>
      </p:sp>
      <p:sp>
        <p:nvSpPr>
          <p:cNvPr id="36" name="s4-b-2-3-dot">
            <a:extLst xmlns:a="http://schemas.openxmlformats.org/drawingml/2006/main">
              <a:ext uri="{FF2B5EF4-FFF2-40B4-BE49-F238E27FC236}">
                <a16:creationId xmlns:a16="http://schemas.microsoft.com/office/drawing/2014/main" id="{98144CEA-6595-47E7-946B-1EED03E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s4-b-2-3">
            <a:extLst xmlns:a="http://schemas.openxmlformats.org/drawingml/2006/main">
              <a:ext uri="{FF2B5EF4-FFF2-40B4-BE49-F238E27FC236}">
                <a16:creationId xmlns:a16="http://schemas.microsoft.com/office/drawing/2014/main" id="{50CDCC38-B643-4C74-B716-F97BD9DB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14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Sketch review</a:t>
            </a:r>
          </a:p>
        </p:txBody>
      </p:sp>
      <p:sp>
        <p:nvSpPr>
          <p:cNvPr id="38" name="s4-bottom">
            <a:extLst xmlns:a="http://schemas.openxmlformats.org/drawingml/2006/main">
              <a:ext uri="{FF2B5EF4-FFF2-40B4-BE49-F238E27FC236}">
                <a16:creationId xmlns:a16="http://schemas.microsoft.com/office/drawing/2014/main" id="{07E7B7C7-7405-48F3-9502-B20201F6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The anti-pattern: fixing a projection and letting successful execution retroactively become policy.</a:t>
            </a:r>
          </a:p>
        </p:txBody>
      </p:sp>
    </p:spTree>
    <p:extLst>
      <p:ext uri="{BB962C8B-B14F-4D97-AF65-F5344CB8AC3E}">
        <p14:creationId xmlns:p14="http://schemas.microsoft.com/office/powerpoint/2010/main" val="858959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5">
            <a:extLst xmlns:a="http://schemas.openxmlformats.org/drawingml/2006/main">
              <a:ext uri="{FF2B5EF4-FFF2-40B4-BE49-F238E27FC236}">
                <a16:creationId xmlns:a16="http://schemas.microsoft.com/office/drawing/2014/main" id="{9D198AB0-2D6F-4DE7-881C-8188B83E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Governed synthesis for a change request</a:t>
            </a:r>
          </a:p>
        </p:txBody>
      </p:sp>
      <p:cxnSp>
        <p:nvCxnSpPr>
          <p:cNvPr id="37" name="title-rule-5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E75D56B3-CA0A-4D2D-92B3-6162987F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5">
            <a:extLst xmlns:a="http://schemas.openxmlformats.org/drawingml/2006/main">
              <a:ext uri="{FF2B5EF4-FFF2-40B4-BE49-F238E27FC236}">
                <a16:creationId xmlns:a16="http://schemas.microsoft.com/office/drawing/2014/main" id="{2F09173E-44DC-4855-8E5D-2F1FBF3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0" name="s5-a-0"/>
          <p:cNvCxnSpPr/>
          <p:nvPr/>
        </p:nvCxnSpPr>
        <p:spPr>
          <a:xfrm xmlns:a="http://schemas.openxmlformats.org/drawingml/2006/main">
            <a:off x="1676400" y="3333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s5-a-1"/>
          <p:cNvCxnSpPr/>
          <p:nvPr/>
        </p:nvCxnSpPr>
        <p:spPr>
          <a:xfrm xmlns:a="http://schemas.openxmlformats.org/drawingml/2006/main">
            <a:off x="3600450" y="3333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s5-a-2"/>
          <p:cNvCxnSpPr/>
          <p:nvPr/>
        </p:nvCxnSpPr>
        <p:spPr>
          <a:xfrm xmlns:a="http://schemas.openxmlformats.org/drawingml/2006/main">
            <a:off x="5524500" y="3333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s5-a-3"/>
          <p:cNvCxnSpPr/>
          <p:nvPr/>
        </p:nvCxnSpPr>
        <p:spPr>
          <a:xfrm xmlns:a="http://schemas.openxmlformats.org/drawingml/2006/main">
            <a:off x="7448550" y="3333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s5-a-4"/>
          <p:cNvCxnSpPr/>
          <p:nvPr/>
        </p:nvCxnSpPr>
        <p:spPr>
          <a:xfrm xmlns:a="http://schemas.openxmlformats.org/drawingml/2006/main">
            <a:off x="9372600" y="33337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s5-box-0">
            <a:extLst xmlns:a="http://schemas.openxmlformats.org/drawingml/2006/main">
              <a:ext uri="{FF2B5EF4-FFF2-40B4-BE49-F238E27FC236}">
                <a16:creationId xmlns:a16="http://schemas.microsoft.com/office/drawing/2014/main" id="{1053793C-9825-489A-98C2-D7AD014E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5-num-0">
            <a:extLst xmlns:a="http://schemas.openxmlformats.org/drawingml/2006/main">
              <a:ext uri="{FF2B5EF4-FFF2-40B4-BE49-F238E27FC236}">
                <a16:creationId xmlns:a16="http://schemas.microsoft.com/office/drawing/2014/main" id="{0EA7EE0E-E443-41A1-ADDD-74DA9090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s5-name-0">
            <a:extLst xmlns:a="http://schemas.openxmlformats.org/drawingml/2006/main">
              <a:ext uri="{FF2B5EF4-FFF2-40B4-BE49-F238E27FC236}">
                <a16:creationId xmlns:a16="http://schemas.microsoft.com/office/drawing/2014/main" id="{B0562008-6E04-467D-89AC-A181D3B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3" name="s5-desc-0">
            <a:extLst xmlns:a="http://schemas.openxmlformats.org/drawingml/2006/main">
              <a:ext uri="{FF2B5EF4-FFF2-40B4-BE49-F238E27FC236}">
                <a16:creationId xmlns:a16="http://schemas.microsoft.com/office/drawing/2014/main" id="{56544284-1B1A-44C1-A1A2-C0A9F7FA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Preserve input, output, trace</a:t>
            </a:r>
          </a:p>
        </p:txBody>
      </p:sp>
      <p:sp>
        <p:nvSpPr>
          <p:cNvPr id="14" name="s5-box-1">
            <a:extLst xmlns:a="http://schemas.openxmlformats.org/drawingml/2006/main">
              <a:ext uri="{FF2B5EF4-FFF2-40B4-BE49-F238E27FC236}">
                <a16:creationId xmlns:a16="http://schemas.microsoft.com/office/drawing/2014/main" id="{DDED2E5D-8F58-45EC-977C-8E5F348C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5-num-1">
            <a:extLst xmlns:a="http://schemas.openxmlformats.org/drawingml/2006/main">
              <a:ext uri="{FF2B5EF4-FFF2-40B4-BE49-F238E27FC236}">
                <a16:creationId xmlns:a16="http://schemas.microsoft.com/office/drawing/2014/main" id="{F51C7FC6-932C-4EAF-AAF5-C9315BA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s5-name-1">
            <a:extLst xmlns:a="http://schemas.openxmlformats.org/drawingml/2006/main">
              <a:ext uri="{FF2B5EF4-FFF2-40B4-BE49-F238E27FC236}">
                <a16:creationId xmlns:a16="http://schemas.microsoft.com/office/drawing/2014/main" id="{77860EBD-776E-4510-97BE-EE350F7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17" name="s5-desc-1">
            <a:extLst xmlns:a="http://schemas.openxmlformats.org/drawingml/2006/main">
              <a:ext uri="{FF2B5EF4-FFF2-40B4-BE49-F238E27FC236}">
                <a16:creationId xmlns:a16="http://schemas.microsoft.com/office/drawing/2014/main" id="{080744F6-5F3E-4ADE-95C6-81B0D98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stage · edge · path · hole</a:t>
            </a:r>
          </a:p>
        </p:txBody>
      </p:sp>
      <p:sp>
        <p:nvSpPr>
          <p:cNvPr id="18" name="s5-box-2">
            <a:extLst xmlns:a="http://schemas.openxmlformats.org/drawingml/2006/main">
              <a:ext uri="{FF2B5EF4-FFF2-40B4-BE49-F238E27FC236}">
                <a16:creationId xmlns:a16="http://schemas.microsoft.com/office/drawing/2014/main" id="{00C7674B-82AB-480A-AAAE-8D9495B7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s5-num-2">
            <a:extLst xmlns:a="http://schemas.openxmlformats.org/drawingml/2006/main">
              <a:ext uri="{FF2B5EF4-FFF2-40B4-BE49-F238E27FC236}">
                <a16:creationId xmlns:a16="http://schemas.microsoft.com/office/drawing/2014/main" id="{003CAE1D-3A02-44A7-8F92-E750A714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s5-name-2">
            <a:extLst xmlns:a="http://schemas.openxmlformats.org/drawingml/2006/main">
              <a:ext uri="{FF2B5EF4-FFF2-40B4-BE49-F238E27FC236}">
                <a16:creationId xmlns:a16="http://schemas.microsoft.com/office/drawing/2014/main" id="{072CFC86-2D60-45AC-8DFE-F99C9F3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21" name="s5-desc-2">
            <a:extLst xmlns:a="http://schemas.openxmlformats.org/drawingml/2006/main">
              <a:ext uri="{FF2B5EF4-FFF2-40B4-BE49-F238E27FC236}">
                <a16:creationId xmlns:a16="http://schemas.microsoft.com/office/drawing/2014/main" id="{91D2386B-D4D7-4F17-AC16-3049C0F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name the only legal surface</a:t>
            </a:r>
          </a:p>
        </p:txBody>
      </p:sp>
      <p:sp>
        <p:nvSpPr>
          <p:cNvPr id="22" name="s5-box-3">
            <a:extLst xmlns:a="http://schemas.openxmlformats.org/drawingml/2006/main">
              <a:ext uri="{FF2B5EF4-FFF2-40B4-BE49-F238E27FC236}">
                <a16:creationId xmlns:a16="http://schemas.microsoft.com/office/drawing/2014/main" id="{9F7F7090-D11C-4EF3-9B96-45138EFA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s5-num-3">
            <a:extLst xmlns:a="http://schemas.openxmlformats.org/drawingml/2006/main">
              <a:ext uri="{FF2B5EF4-FFF2-40B4-BE49-F238E27FC236}">
                <a16:creationId xmlns:a16="http://schemas.microsoft.com/office/drawing/2014/main" id="{B3F497CF-EB11-44D3-A786-8A4FD2F7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s5-name-3">
            <a:extLst xmlns:a="http://schemas.openxmlformats.org/drawingml/2006/main">
              <a:ext uri="{FF2B5EF4-FFF2-40B4-BE49-F238E27FC236}">
                <a16:creationId xmlns:a16="http://schemas.microsoft.com/office/drawing/2014/main" id="{75324642-5BC4-47A7-BF33-57A0B12A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Evolve</a:t>
            </a:r>
          </a:p>
        </p:txBody>
      </p:sp>
      <p:sp>
        <p:nvSpPr>
          <p:cNvPr id="25" name="s5-desc-3">
            <a:extLst xmlns:a="http://schemas.openxmlformats.org/drawingml/2006/main">
              <a:ext uri="{FF2B5EF4-FFF2-40B4-BE49-F238E27FC236}">
                <a16:creationId xmlns:a16="http://schemas.microsoft.com/office/drawing/2014/main" id="{D1F1C636-BFEC-4C90-873D-0CA70993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smallest Sketch rule required</a:t>
            </a:r>
          </a:p>
        </p:txBody>
      </p:sp>
      <p:sp>
        <p:nvSpPr>
          <p:cNvPr id="26" name="s5-box-4">
            <a:extLst xmlns:a="http://schemas.openxmlformats.org/drawingml/2006/main">
              <a:ext uri="{FF2B5EF4-FFF2-40B4-BE49-F238E27FC236}">
                <a16:creationId xmlns:a16="http://schemas.microsoft.com/office/drawing/2014/main" id="{3D6C07F5-8C25-4990-AC47-0F38D30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5-num-4">
            <a:extLst xmlns:a="http://schemas.openxmlformats.org/drawingml/2006/main">
              <a:ext uri="{FF2B5EF4-FFF2-40B4-BE49-F238E27FC236}">
                <a16:creationId xmlns:a16="http://schemas.microsoft.com/office/drawing/2014/main" id="{898365B8-AC01-47CD-8059-AB3D74F5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s5-name-4">
            <a:extLst xmlns:a="http://schemas.openxmlformats.org/drawingml/2006/main">
              <a:ext uri="{FF2B5EF4-FFF2-40B4-BE49-F238E27FC236}">
                <a16:creationId xmlns:a16="http://schemas.microsoft.com/office/drawing/2014/main" id="{DD68BF66-4B08-4C5C-A5D5-D0FACD39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Compile</a:t>
            </a:r>
          </a:p>
        </p:txBody>
      </p:sp>
      <p:sp>
        <p:nvSpPr>
          <p:cNvPr id="29" name="s5-desc-4">
            <a:extLst xmlns:a="http://schemas.openxmlformats.org/drawingml/2006/main">
              <a:ext uri="{FF2B5EF4-FFF2-40B4-BE49-F238E27FC236}">
                <a16:creationId xmlns:a16="http://schemas.microsoft.com/office/drawing/2014/main" id="{DAD9BAAE-AA1E-4943-AD54-5F8DCB3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discard and rebuild projection</a:t>
            </a:r>
          </a:p>
        </p:txBody>
      </p:sp>
      <p:sp>
        <p:nvSpPr>
          <p:cNvPr id="30" name="s5-box-5">
            <a:extLst xmlns:a="http://schemas.openxmlformats.org/drawingml/2006/main">
              <a:ext uri="{FF2B5EF4-FFF2-40B4-BE49-F238E27FC236}">
                <a16:creationId xmlns:a16="http://schemas.microsoft.com/office/drawing/2014/main" id="{E42FDF0A-030A-478C-985F-3AF8CAC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1619250" cy="2143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5-num-5">
            <a:extLst xmlns:a="http://schemas.openxmlformats.org/drawingml/2006/main">
              <a:ext uri="{FF2B5EF4-FFF2-40B4-BE49-F238E27FC236}">
                <a16:creationId xmlns:a16="http://schemas.microsoft.com/office/drawing/2014/main" id="{CD074A1D-E8A4-4EA2-9EB5-55CF798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2" name="s5-name-5">
            <a:extLst xmlns:a="http://schemas.openxmlformats.org/drawingml/2006/main">
              <a:ext uri="{FF2B5EF4-FFF2-40B4-BE49-F238E27FC236}">
                <a16:creationId xmlns:a16="http://schemas.microsoft.com/office/drawing/2014/main" id="{3CE4957E-18C8-4CFA-9F81-4A66E25E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765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twice</a:t>
            </a:r>
          </a:p>
        </p:txBody>
      </p:sp>
      <p:sp>
        <p:nvSpPr>
          <p:cNvPr id="33" name="s5-desc-5">
            <a:extLst xmlns:a="http://schemas.openxmlformats.org/drawingml/2006/main">
              <a:ext uri="{FF2B5EF4-FFF2-40B4-BE49-F238E27FC236}">
                <a16:creationId xmlns:a16="http://schemas.microsoft.com/office/drawing/2014/main" id="{C2CBFEB4-C72D-44D2-A425-FAA68C1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2900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gate + current-Sketch review</a:t>
            </a:r>
          </a:p>
        </p:txBody>
      </p:sp>
      <p:sp>
        <p:nvSpPr>
          <p:cNvPr id="34" name="s5-callout">
            <a:extLst xmlns:a="http://schemas.openxmlformats.org/drawingml/2006/main">
              <a:ext uri="{FF2B5EF4-FFF2-40B4-BE49-F238E27FC236}">
                <a16:creationId xmlns:a16="http://schemas.microsoft.com/office/drawing/2014/main" id="{2CDC92D4-E5EE-43BD-96B1-F1EA2E0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8039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35" name="s5-callout-text">
            <a:extLst xmlns:a="http://schemas.openxmlformats.org/drawingml/2006/main">
              <a:ext uri="{FF2B5EF4-FFF2-40B4-BE49-F238E27FC236}">
                <a16:creationId xmlns:a16="http://schemas.microsoft.com/office/drawing/2014/main" id="{42DA7A34-B91A-4CA2-8E1C-54BABDF8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530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If authority is missing, the correct output is an explicit hole and one precise question—not a plausible mapping.</a:t>
            </a:r>
          </a:p>
        </p:txBody>
      </p:sp>
    </p:spTree>
    <p:extLst>
      <p:ext uri="{BB962C8B-B14F-4D97-AF65-F5344CB8AC3E}">
        <p14:creationId xmlns:p14="http://schemas.microsoft.com/office/powerpoint/2010/main" val="685684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6">
            <a:extLst xmlns:a="http://schemas.openxmlformats.org/drawingml/2006/main">
              <a:ext uri="{FF2B5EF4-FFF2-40B4-BE49-F238E27FC236}">
                <a16:creationId xmlns:a16="http://schemas.microsoft.com/office/drawing/2014/main" id="{7A8C8D4B-E6E3-4723-8DDF-D4CB7DDF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running case: repair the handoff, not the stages</a:t>
            </a:r>
          </a:p>
        </p:txBody>
      </p:sp>
      <p:cxnSp>
        <p:nvCxnSpPr>
          <p:cNvPr id="28" name="title-rule-6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A79EA5EF-98A0-497D-B575-8DC1FDD1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6">
            <a:extLst xmlns:a="http://schemas.openxmlformats.org/drawingml/2006/main">
              <a:ext uri="{FF2B5EF4-FFF2-40B4-BE49-F238E27FC236}">
                <a16:creationId xmlns:a16="http://schemas.microsoft.com/office/drawing/2014/main" id="{3F5AD543-4FD1-4433-9475-6AA525E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31" name="s6-a1"/>
          <p:cNvCxnSpPr/>
          <p:nvPr/>
        </p:nvCxnSpPr>
        <p:spPr>
          <a:xfrm xmlns:a="http://schemas.openxmlformats.org/drawingml/2006/main">
            <a:off x="2781300" y="30289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2" name="s6-a2"/>
          <p:cNvCxnSpPr/>
          <p:nvPr/>
        </p:nvCxnSpPr>
        <p:spPr>
          <a:xfrm xmlns:a="http://schemas.openxmlformats.org/drawingml/2006/main">
            <a:off x="5867400" y="30289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s6-a3"/>
          <p:cNvCxnSpPr/>
          <p:nvPr/>
        </p:nvCxnSpPr>
        <p:spPr>
          <a:xfrm xmlns:a="http://schemas.openxmlformats.org/drawingml/2006/main">
            <a:off x="8953500" y="30289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s6-box-0">
            <a:extLst xmlns:a="http://schemas.openxmlformats.org/drawingml/2006/main">
              <a:ext uri="{FF2B5EF4-FFF2-40B4-BE49-F238E27FC236}">
                <a16:creationId xmlns:a16="http://schemas.microsoft.com/office/drawing/2014/main" id="{80C40F61-47EB-41E5-9863-F7D28BE8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9" name="s6-title-0">
            <a:extLst xmlns:a="http://schemas.openxmlformats.org/drawingml/2006/main">
              <a:ext uri="{FF2B5EF4-FFF2-40B4-BE49-F238E27FC236}">
                <a16:creationId xmlns:a16="http://schemas.microsoft.com/office/drawing/2014/main" id="{1BFECC62-8DB4-4F6B-998B-5ED6EE23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</a:t>
            </a:r>
          </a:p>
        </p:txBody>
      </p:sp>
      <p:sp>
        <p:nvSpPr>
          <p:cNvPr id="10" name="s6-value-0">
            <a:extLst xmlns:a="http://schemas.openxmlformats.org/drawingml/2006/main">
              <a:ext uri="{FF2B5EF4-FFF2-40B4-BE49-F238E27FC236}">
                <a16:creationId xmlns:a16="http://schemas.microsoft.com/office/drawing/2014/main" id="{18FB9A76-B071-4C23-81F7-D181C2CD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T_DTS</a:t>
            </a:r>
          </a:p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00:02:34</a:t>
            </a:r>
          </a:p>
        </p:txBody>
      </p:sp>
      <p:sp>
        <p:nvSpPr>
          <p:cNvPr id="11" name="s6-type-0">
            <a:extLst xmlns:a="http://schemas.openxmlformats.org/drawingml/2006/main">
              <a:ext uri="{FF2B5EF4-FFF2-40B4-BE49-F238E27FC236}">
                <a16:creationId xmlns:a16="http://schemas.microsoft.com/office/drawing/2014/main" id="{16A9FDFB-7328-4231-A714-B2850DF8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trade_record_timestamp</a:t>
            </a:r>
          </a:p>
        </p:txBody>
      </p:sp>
      <p:sp>
        <p:nvSpPr>
          <p:cNvPr id="12" name="s6-box-1">
            <a:extLst xmlns:a="http://schemas.openxmlformats.org/drawingml/2006/main">
              <a:ext uri="{FF2B5EF4-FFF2-40B4-BE49-F238E27FC236}">
                <a16:creationId xmlns:a16="http://schemas.microsoft.com/office/drawing/2014/main" id="{D857155F-5DC9-465F-93AD-BD28E23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3" name="s6-title-1">
            <a:extLst xmlns:a="http://schemas.openxmlformats.org/drawingml/2006/main">
              <a:ext uri="{FF2B5EF4-FFF2-40B4-BE49-F238E27FC236}">
                <a16:creationId xmlns:a16="http://schemas.microsoft.com/office/drawing/2014/main" id="{36E058D8-9DEC-45AB-9C31-915F41A2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TradeHistory</a:t>
            </a:r>
          </a:p>
        </p:txBody>
      </p:sp>
      <p:sp>
        <p:nvSpPr>
          <p:cNvPr id="14" name="s6-value-1">
            <a:extLst xmlns:a="http://schemas.openxmlformats.org/drawingml/2006/main">
              <a:ext uri="{FF2B5EF4-FFF2-40B4-BE49-F238E27FC236}">
                <a16:creationId xmlns:a16="http://schemas.microsoft.com/office/drawing/2014/main" id="{483C020D-C291-4B6B-A39E-9C2B52C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SBMT TH_DTS</a:t>
            </a:r>
          </a:p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00:01:13</a:t>
            </a:r>
          </a:p>
        </p:txBody>
      </p:sp>
      <p:sp>
        <p:nvSpPr>
          <p:cNvPr id="15" name="s6-type-1">
            <a:extLst xmlns:a="http://schemas.openxmlformats.org/drawingml/2006/main">
              <a:ext uri="{FF2B5EF4-FFF2-40B4-BE49-F238E27FC236}">
                <a16:creationId xmlns:a16="http://schemas.microsoft.com/office/drawing/2014/main" id="{DDB19FE4-C60A-40E5-9371-AB932527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909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8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status_update_timestamp</a:t>
            </a:r>
          </a:p>
        </p:txBody>
      </p:sp>
      <p:sp>
        <p:nvSpPr>
          <p:cNvPr id="16" name="s6-box-2">
            <a:extLst xmlns:a="http://schemas.openxmlformats.org/drawingml/2006/main">
              <a:ext uri="{FF2B5EF4-FFF2-40B4-BE49-F238E27FC236}">
                <a16:creationId xmlns:a16="http://schemas.microsoft.com/office/drawing/2014/main" id="{03171928-8940-404C-9197-D7F36CA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526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s6-title-2">
            <a:extLst xmlns:a="http://schemas.openxmlformats.org/drawingml/2006/main">
              <a:ext uri="{FF2B5EF4-FFF2-40B4-BE49-F238E27FC236}">
                <a16:creationId xmlns:a16="http://schemas.microsoft.com/office/drawing/2014/main" id="{C7B5DCF2-E677-4F5A-860F-60C5896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Lifecycle edge</a:t>
            </a:r>
          </a:p>
        </p:txBody>
      </p:sp>
      <p:sp>
        <p:nvSpPr>
          <p:cNvPr id="18" name="s6-value-2">
            <a:extLst xmlns:a="http://schemas.openxmlformats.org/drawingml/2006/main">
              <a:ext uri="{FF2B5EF4-FFF2-40B4-BE49-F238E27FC236}">
                <a16:creationId xmlns:a16="http://schemas.microsoft.com/office/drawing/2014/main" id="{6CFF0808-46C7-47BA-8E5E-B60512F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select SBMT</a:t>
            </a:r>
          </a:p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assign created_at</a:t>
            </a:r>
          </a:p>
        </p:txBody>
      </p:sp>
      <p:sp>
        <p:nvSpPr>
          <p:cNvPr id="19" name="s6-type-2">
            <a:extLst xmlns:a="http://schemas.openxmlformats.org/drawingml/2006/main">
              <a:ext uri="{FF2B5EF4-FFF2-40B4-BE49-F238E27FC236}">
                <a16:creationId xmlns:a16="http://schemas.microsoft.com/office/drawing/2014/main" id="{F8B58CDF-0873-497A-BBF2-81D80FC2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trade_creation_timestamp</a:t>
            </a:r>
          </a:p>
        </p:txBody>
      </p:sp>
      <p:sp>
        <p:nvSpPr>
          <p:cNvPr id="20" name="s6-box-3">
            <a:extLst xmlns:a="http://schemas.openxmlformats.org/drawingml/2006/main">
              <a:ext uri="{FF2B5EF4-FFF2-40B4-BE49-F238E27FC236}">
                <a16:creationId xmlns:a16="http://schemas.microsoft.com/office/drawing/2014/main" id="{B95446C4-131F-43C9-9F14-AB45934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265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F3E8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21" name="s6-title-3">
            <a:extLst xmlns:a="http://schemas.openxmlformats.org/drawingml/2006/main">
              <a:ext uri="{FF2B5EF4-FFF2-40B4-BE49-F238E27FC236}">
                <a16:creationId xmlns:a16="http://schemas.microsoft.com/office/drawing/2014/main" id="{C8E2FB45-0399-4188-84BA-39EAA7C4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DimTrade</a:t>
            </a:r>
          </a:p>
        </p:txBody>
      </p:sp>
      <p:sp>
        <p:nvSpPr>
          <p:cNvPr id="22" name="s6-value-3">
            <a:extLst xmlns:a="http://schemas.openxmlformats.org/drawingml/2006/main">
              <a:ext uri="{FF2B5EF4-FFF2-40B4-BE49-F238E27FC236}">
                <a16:creationId xmlns:a16="http://schemas.microsoft.com/office/drawing/2014/main" id="{E41EA486-2691-4873-92E6-1D45A5A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created_at</a:t>
            </a:r>
          </a:p>
          <a:p xmlns:a="http://schemas.openxmlformats.org/drawingml/2006/main">
            <a:pPr algn="l">
              <a:def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8754"/>
                </a:solidFill>
                <a:latin typeface="Helvetica Neue"/>
                <a:ea typeface="Helvetica Neue"/>
                <a:cs typeface="Helvetica Neue"/>
              </a:rPr>
              <a:t>00:01:13</a:t>
            </a:r>
          </a:p>
        </p:txBody>
      </p:sp>
      <p:sp>
        <p:nvSpPr>
          <p:cNvPr id="23" name="s6-type-3">
            <a:extLst xmlns:a="http://schemas.openxmlformats.org/drawingml/2006/main">
              <a:ext uri="{FF2B5EF4-FFF2-40B4-BE49-F238E27FC236}">
                <a16:creationId xmlns:a16="http://schemas.microsoft.com/office/drawing/2014/main" id="{E4402AFD-F66B-4015-AE6A-4B15792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909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typed copy</a:t>
            </a:r>
          </a:p>
        </p:txBody>
      </p:sp>
      <p:sp>
        <p:nvSpPr>
          <p:cNvPr id="24" name="s6-auth">
            <a:extLst xmlns:a="http://schemas.openxmlformats.org/drawingml/2006/main">
              <a:ext uri="{FF2B5EF4-FFF2-40B4-BE49-F238E27FC236}">
                <a16:creationId xmlns:a16="http://schemas.microsoft.com/office/drawing/2014/main" id="{0211CC7F-9A6D-4AE1-A600-1370BCE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67250"/>
            <a:ext cx="830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6-auth-head">
            <a:extLst xmlns:a="http://schemas.openxmlformats.org/drawingml/2006/main">
              <a:ext uri="{FF2B5EF4-FFF2-40B4-BE49-F238E27FC236}">
                <a16:creationId xmlns:a16="http://schemas.microsoft.com/office/drawing/2014/main" id="{2AD801B6-79FE-49B2-8FC1-B994437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Authorized repair</a:t>
            </a:r>
          </a:p>
        </p:txBody>
      </p:sp>
      <p:sp>
        <p:nvSpPr>
          <p:cNvPr id="26" name="s6-auth-body">
            <a:extLst xmlns:a="http://schemas.openxmlformats.org/drawingml/2006/main">
              <a:ext uri="{FF2B5EF4-FFF2-40B4-BE49-F238E27FC236}">
                <a16:creationId xmlns:a16="http://schemas.microsoft.com/office/drawing/2014/main" id="{50B328C9-0931-4D7E-BAC5-38B5FCF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560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Allowed: sketch.edge.trade_history_to_dim_trade</a:t>
            </a:r>
          </a:p>
          <a:p xmlns:a="http://schemas.openxmlformats.org/drawingml/2006/main">
            <a:pPr algn="l">
              <a:defRPr sz="14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Forbidden: Trade stage · TradeHistory stage · DimTrade consumer · generated SQL · DuckDB table</a:t>
            </a:r>
          </a:p>
        </p:txBody>
      </p:sp>
    </p:spTree>
    <p:extLst>
      <p:ext uri="{BB962C8B-B14F-4D97-AF65-F5344CB8AC3E}">
        <p14:creationId xmlns:p14="http://schemas.microsoft.com/office/powerpoint/2010/main" val="242046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7">
            <a:extLst xmlns:a="http://schemas.openxmlformats.org/drawingml/2006/main">
              <a:ext uri="{FF2B5EF4-FFF2-40B4-BE49-F238E27FC236}">
                <a16:creationId xmlns:a16="http://schemas.microsoft.com/office/drawing/2014/main" id="{52F6F744-D995-417C-BCB4-FF62D0B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graphs, two blast radii</a:t>
            </a:r>
          </a:p>
        </p:txBody>
      </p:sp>
      <p:cxnSp>
        <p:nvCxnSpPr>
          <p:cNvPr id="37" name="title-rule-7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03EC78BC-C39B-4445-AC08-C73B024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7">
            <a:extLst xmlns:a="http://schemas.openxmlformats.org/drawingml/2006/main">
              <a:ext uri="{FF2B5EF4-FFF2-40B4-BE49-F238E27FC236}">
                <a16:creationId xmlns:a16="http://schemas.microsoft.com/office/drawing/2014/main" id="{BB776FD3-21FA-4305-A5C1-B527111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s7-left-head">
            <a:extLst xmlns:a="http://schemas.openxmlformats.org/drawingml/2006/main">
              <a:ext uri="{FF2B5EF4-FFF2-40B4-BE49-F238E27FC236}">
                <a16:creationId xmlns:a16="http://schemas.microsoft.com/office/drawing/2014/main" id="{F017C568-487A-473E-BCA0-76DAB65F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Semantic dependency graph</a:t>
            </a:r>
          </a:p>
        </p:txBody>
      </p:sp>
      <p:sp>
        <p:nvSpPr>
          <p:cNvPr id="6" name="s7-right-head">
            <a:extLst xmlns:a="http://schemas.openxmlformats.org/drawingml/2006/main">
              <a:ext uri="{FF2B5EF4-FFF2-40B4-BE49-F238E27FC236}">
                <a16:creationId xmlns:a16="http://schemas.microsoft.com/office/drawing/2014/main" id="{8CCE0672-5025-4D06-B87F-CB633440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Executable SQLMesh graph</a:t>
            </a:r>
          </a:p>
        </p:txBody>
      </p:sp>
      <p:cxnSp>
        <p:nvCxnSpPr>
          <p:cNvPr id="42" name="s7-l1"/>
          <p:cNvCxnSpPr/>
          <p:nvPr/>
        </p:nvCxnSpPr>
        <p:spPr>
          <a:xfrm xmlns:a="http://schemas.openxmlformats.org/drawingml/2006/main">
            <a:off x="1809750" y="28003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3" name="s7-l2"/>
          <p:cNvCxnSpPr/>
          <p:nvPr/>
        </p:nvCxnSpPr>
        <p:spPr>
          <a:xfrm xmlns:a="http://schemas.openxmlformats.org/drawingml/2006/main">
            <a:off x="3714750" y="28003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s7-l3"/>
          <p:cNvCxnSpPr/>
          <p:nvPr/>
        </p:nvCxnSpPr>
        <p:spPr>
          <a:xfrm xmlns:a="http://schemas.openxmlformats.org/drawingml/2006/main">
            <a:off x="4857750" y="3429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5" name="s7-r1"/>
          <p:cNvCxnSpPr/>
          <p:nvPr/>
        </p:nvCxnSpPr>
        <p:spPr>
          <a:xfrm xmlns:a="http://schemas.openxmlformats.org/drawingml/2006/main">
            <a:off x="8153400" y="28003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s7-r2"/>
          <p:cNvCxnSpPr/>
          <p:nvPr/>
        </p:nvCxnSpPr>
        <p:spPr>
          <a:xfrm xmlns:a="http://schemas.openxmlformats.org/drawingml/2006/main">
            <a:off x="10325100" y="2800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s7-ln-0">
            <a:extLst xmlns:a="http://schemas.openxmlformats.org/drawingml/2006/main">
              <a:ext uri="{FF2B5EF4-FFF2-40B4-BE49-F238E27FC236}">
                <a16:creationId xmlns:a16="http://schemas.microsoft.com/office/drawing/2014/main" id="{09F58DF9-1316-4099-A20F-CB210581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14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s7-lt-0">
            <a:extLst xmlns:a="http://schemas.openxmlformats.org/drawingml/2006/main">
              <a:ext uri="{FF2B5EF4-FFF2-40B4-BE49-F238E27FC236}">
                <a16:creationId xmlns:a16="http://schemas.microsoft.com/office/drawing/2014/main" id="{35FCE17F-4170-4C71-8F0A-ACF9CD3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edge</a:t>
            </a:r>
          </a:p>
        </p:txBody>
      </p:sp>
      <p:sp>
        <p:nvSpPr>
          <p:cNvPr id="14" name="s7-ld-0">
            <a:extLst xmlns:a="http://schemas.openxmlformats.org/drawingml/2006/main">
              <a:ext uri="{FF2B5EF4-FFF2-40B4-BE49-F238E27FC236}">
                <a16:creationId xmlns:a16="http://schemas.microsoft.com/office/drawing/2014/main" id="{3D48A848-9544-4EB1-B5BC-8FD9023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1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time</a:t>
            </a:r>
          </a:p>
        </p:txBody>
      </p:sp>
      <p:sp>
        <p:nvSpPr>
          <p:cNvPr id="15" name="s7-ln-1">
            <a:extLst xmlns:a="http://schemas.openxmlformats.org/drawingml/2006/main">
              <a:ext uri="{FF2B5EF4-FFF2-40B4-BE49-F238E27FC236}">
                <a16:creationId xmlns:a16="http://schemas.microsoft.com/office/drawing/2014/main" id="{F2B1E014-B82F-431E-BA48-8C60B987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s7-lt-1">
            <a:extLst xmlns:a="http://schemas.openxmlformats.org/drawingml/2006/main">
              <a:ext uri="{FF2B5EF4-FFF2-40B4-BE49-F238E27FC236}">
                <a16:creationId xmlns:a16="http://schemas.microsoft.com/office/drawing/2014/main" id="{CAA02852-6A92-4030-B13D-8E313E7E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logical</a:t>
            </a:r>
          </a:p>
        </p:txBody>
      </p:sp>
      <p:sp>
        <p:nvSpPr>
          <p:cNvPr id="17" name="s7-ld-1">
            <a:extLst xmlns:a="http://schemas.openxmlformats.org/drawingml/2006/main">
              <a:ext uri="{FF2B5EF4-FFF2-40B4-BE49-F238E27FC236}">
                <a16:creationId xmlns:a16="http://schemas.microsoft.com/office/drawing/2014/main" id="{A95EF3CF-539E-4568-A366-F1498DF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DimTrade</a:t>
            </a:r>
          </a:p>
        </p:txBody>
      </p:sp>
      <p:sp>
        <p:nvSpPr>
          <p:cNvPr id="18" name="s7-ln-2">
            <a:extLst xmlns:a="http://schemas.openxmlformats.org/drawingml/2006/main">
              <a:ext uri="{FF2B5EF4-FFF2-40B4-BE49-F238E27FC236}">
                <a16:creationId xmlns:a16="http://schemas.microsoft.com/office/drawing/2014/main" id="{2878550D-27BB-4D66-8FC9-BF03F9A5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s7-lt-2">
            <a:extLst xmlns:a="http://schemas.openxmlformats.org/drawingml/2006/main">
              <a:ext uri="{FF2B5EF4-FFF2-40B4-BE49-F238E27FC236}">
                <a16:creationId xmlns:a16="http://schemas.microsoft.com/office/drawing/2014/main" id="{AAC11AC2-D941-4ABF-B3DB-917E24B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146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physical</a:t>
            </a:r>
          </a:p>
        </p:txBody>
      </p:sp>
      <p:sp>
        <p:nvSpPr>
          <p:cNvPr id="20" name="s7-ld-2">
            <a:extLst xmlns:a="http://schemas.openxmlformats.org/drawingml/2006/main">
              <a:ext uri="{FF2B5EF4-FFF2-40B4-BE49-F238E27FC236}">
                <a16:creationId xmlns:a16="http://schemas.microsoft.com/office/drawing/2014/main" id="{4C460EB9-642B-428F-BCED-D03CAD3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dim_trade</a:t>
            </a:r>
          </a:p>
        </p:txBody>
      </p:sp>
      <p:sp>
        <p:nvSpPr>
          <p:cNvPr id="21" name="s7-ln-3">
            <a:extLst xmlns:a="http://schemas.openxmlformats.org/drawingml/2006/main">
              <a:ext uri="{FF2B5EF4-FFF2-40B4-BE49-F238E27FC236}">
                <a16:creationId xmlns:a16="http://schemas.microsoft.com/office/drawing/2014/main" id="{78579EA8-F968-4C38-8D14-EF3799A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s7-lt-3">
            <a:extLst xmlns:a="http://schemas.openxmlformats.org/drawingml/2006/main">
              <a:ext uri="{FF2B5EF4-FFF2-40B4-BE49-F238E27FC236}">
                <a16:creationId xmlns:a16="http://schemas.microsoft.com/office/drawing/2014/main" id="{519CE771-3F5A-4C2E-94C8-32EBA61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metric</a:t>
            </a:r>
          </a:p>
        </p:txBody>
      </p:sp>
      <p:sp>
        <p:nvSpPr>
          <p:cNvPr id="23" name="s7-ld-3">
            <a:extLst xmlns:a="http://schemas.openxmlformats.org/drawingml/2006/main">
              <a:ext uri="{FF2B5EF4-FFF2-40B4-BE49-F238E27FC236}">
                <a16:creationId xmlns:a16="http://schemas.microsoft.com/office/drawing/2014/main" id="{1BAB4C01-D87C-40F6-866D-108441CA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lifecycle seconds</a:t>
            </a:r>
          </a:p>
        </p:txBody>
      </p:sp>
      <p:sp>
        <p:nvSpPr>
          <p:cNvPr id="24" name="s7-rn-0">
            <a:extLst xmlns:a="http://schemas.openxmlformats.org/drawingml/2006/main">
              <a:ext uri="{FF2B5EF4-FFF2-40B4-BE49-F238E27FC236}">
                <a16:creationId xmlns:a16="http://schemas.microsoft.com/office/drawing/2014/main" id="{CD65A1D9-DCF4-4B1D-A698-E46D4699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7-rt-0">
            <a:extLst xmlns:a="http://schemas.openxmlformats.org/drawingml/2006/main">
              <a:ext uri="{FF2B5EF4-FFF2-40B4-BE49-F238E27FC236}">
                <a16:creationId xmlns:a16="http://schemas.microsoft.com/office/drawing/2014/main" id="{1C70895D-6F6C-4D18-AA52-BB319A3B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trade_stage</a:t>
            </a:r>
          </a:p>
        </p:txBody>
      </p:sp>
      <p:sp>
        <p:nvSpPr>
          <p:cNvPr id="26" name="s7-rn-1">
            <a:extLst xmlns:a="http://schemas.openxmlformats.org/drawingml/2006/main">
              <a:ext uri="{FF2B5EF4-FFF2-40B4-BE49-F238E27FC236}">
                <a16:creationId xmlns:a16="http://schemas.microsoft.com/office/drawing/2014/main" id="{10030A6C-DBC3-4EB0-87BC-C175CE2D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7-rt-1">
            <a:extLst xmlns:a="http://schemas.openxmlformats.org/drawingml/2006/main">
              <a:ext uri="{FF2B5EF4-FFF2-40B4-BE49-F238E27FC236}">
                <a16:creationId xmlns:a16="http://schemas.microsoft.com/office/drawing/2014/main" id="{ECE830D3-0C20-4649-BFDC-6121BF6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trade_lifecycle</a:t>
            </a:r>
          </a:p>
        </p:txBody>
      </p:sp>
      <p:sp>
        <p:nvSpPr>
          <p:cNvPr id="28" name="s7-rn-2">
            <a:extLst xmlns:a="http://schemas.openxmlformats.org/drawingml/2006/main">
              <a:ext uri="{FF2B5EF4-FFF2-40B4-BE49-F238E27FC236}">
                <a16:creationId xmlns:a16="http://schemas.microsoft.com/office/drawing/2014/main" id="{7939B7D1-EC88-49DB-97EC-DE956B7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0"/>
            <a:ext cx="1238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7-rt-2">
            <a:extLst xmlns:a="http://schemas.openxmlformats.org/drawingml/2006/main">
              <a:ext uri="{FF2B5EF4-FFF2-40B4-BE49-F238E27FC236}">
                <a16:creationId xmlns:a16="http://schemas.microsoft.com/office/drawing/2014/main" id="{E6A73466-6646-42B0-BA58-01D0297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574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dim_trade</a:t>
            </a:r>
          </a:p>
        </p:txBody>
      </p:sp>
      <p:sp>
        <p:nvSpPr>
          <p:cNvPr id="30" name="s7-sem-caption">
            <a:extLst xmlns:a="http://schemas.openxmlformats.org/drawingml/2006/main">
              <a:ext uri="{FF2B5EF4-FFF2-40B4-BE49-F238E27FC236}">
                <a16:creationId xmlns:a16="http://schemas.microsoft.com/office/drawing/2014/main" id="{E573BF7A-86E9-4B73-91F0-47A88D8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0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Captures a metric dependency absent from SQL lineage</a:t>
            </a:r>
          </a:p>
        </p:txBody>
      </p:sp>
      <p:sp>
        <p:nvSpPr>
          <p:cNvPr id="31" name="s7-exe-caption">
            <a:extLst xmlns:a="http://schemas.openxmlformats.org/drawingml/2006/main">
              <a:ext uri="{FF2B5EF4-FFF2-40B4-BE49-F238E27FC236}">
                <a16:creationId xmlns:a16="http://schemas.microsoft.com/office/drawing/2014/main" id="{596ADF8B-40C6-4D23-B7C8-80E1A3E3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48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31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Determines which generated models actually restage</a:t>
            </a:r>
          </a:p>
        </p:txBody>
      </p:sp>
      <p:sp>
        <p:nvSpPr>
          <p:cNvPr id="32" name="s7-metric-left">
            <a:extLst xmlns:a="http://schemas.openxmlformats.org/drawingml/2006/main">
              <a:ext uri="{FF2B5EF4-FFF2-40B4-BE49-F238E27FC236}">
                <a16:creationId xmlns:a16="http://schemas.microsoft.com/office/drawing/2014/main" id="{E8737E00-B2E0-4D78-B39F-032B401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s7-metric-left-t">
            <a:extLst xmlns:a="http://schemas.openxmlformats.org/drawingml/2006/main">
              <a:ext uri="{FF2B5EF4-FFF2-40B4-BE49-F238E27FC236}">
                <a16:creationId xmlns:a16="http://schemas.microsoft.com/office/drawing/2014/main" id="{3CC409CD-40ED-4335-B626-E681A316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97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Localized  2 models · 781,956 rows</a:t>
            </a:r>
          </a:p>
        </p:txBody>
      </p:sp>
      <p:sp>
        <p:nvSpPr>
          <p:cNvPr id="34" name="s7-metric-right">
            <a:extLst xmlns:a="http://schemas.openxmlformats.org/drawingml/2006/main">
              <a:ext uri="{FF2B5EF4-FFF2-40B4-BE49-F238E27FC236}">
                <a16:creationId xmlns:a16="http://schemas.microsoft.com/office/drawing/2014/main" id="{2373379A-7951-4222-83A2-C50F3D07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388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7-metric-right-t">
            <a:extLst xmlns:a="http://schemas.openxmlformats.org/drawingml/2006/main">
              <a:ext uri="{FF2B5EF4-FFF2-40B4-BE49-F238E27FC236}">
                <a16:creationId xmlns:a16="http://schemas.microsoft.com/office/drawing/2014/main" id="{BC1B596D-A7FD-47CE-8C29-9CE75E9C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197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replay  6 models · 2,155,125 rows</a:t>
            </a:r>
          </a:p>
        </p:txBody>
      </p:sp>
    </p:spTree>
    <p:extLst>
      <p:ext uri="{BB962C8B-B14F-4D97-AF65-F5344CB8AC3E}">
        <p14:creationId xmlns:p14="http://schemas.microsoft.com/office/powerpoint/2010/main" val="2002494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14465879-B0BE-468F-A84E-C71B570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Better localization, more work</a:t>
            </a:r>
          </a:p>
        </p:txBody>
      </p:sp>
      <p:cxnSp>
        <p:nvCxnSpPr>
          <p:cNvPr id="16" name="title-rule-8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138539F9-7A65-43B0-A81A-A8274FF1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8">
            <a:extLst xmlns:a="http://schemas.openxmlformats.org/drawingml/2006/main">
              <a:ext uri="{FF2B5EF4-FFF2-40B4-BE49-F238E27FC236}">
                <a16:creationId xmlns:a16="http://schemas.microsoft.com/office/drawing/2014/main" id="{51048320-995D-486C-952F-8896F290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e1fe0b20b94c21"/>
          </a:graphicData>
        </a:graphic>
      </p:graphicFrame>
      <p:sp>
        <p:nvSpPr>
          <p:cNvPr id="6" name="s8-call-1">
            <a:extLst xmlns:a="http://schemas.openxmlformats.org/drawingml/2006/main">
              <a:ext uri="{FF2B5EF4-FFF2-40B4-BE49-F238E27FC236}">
                <a16:creationId xmlns:a16="http://schemas.microsoft.com/office/drawing/2014/main" id="{1518AEFD-95E4-49A4-92B1-D52566BB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7375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s8-call-1-h">
            <a:extLst xmlns:a="http://schemas.openxmlformats.org/drawingml/2006/main">
              <a:ext uri="{FF2B5EF4-FFF2-40B4-BE49-F238E27FC236}">
                <a16:creationId xmlns:a16="http://schemas.microsoft.com/office/drawing/2014/main" id="{883D0585-8108-4989-A24F-1C4A651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physical composition repairs</a:t>
            </a:r>
          </a:p>
        </p:txBody>
      </p:sp>
      <p:sp>
        <p:nvSpPr>
          <p:cNvPr id="8" name="s8-call-1-b">
            <a:extLst xmlns:a="http://schemas.openxmlformats.org/drawingml/2006/main">
              <a:ext uri="{FF2B5EF4-FFF2-40B4-BE49-F238E27FC236}">
                <a16:creationId xmlns:a16="http://schemas.microsoft.com/office/drawing/2014/main" id="{456DDD89-BE7D-4FFB-912A-0CB762F1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Native and stage-local retained both wrong outputs.</a:t>
            </a:r>
          </a:p>
        </p:txBody>
      </p:sp>
      <p:sp>
        <p:nvSpPr>
          <p:cNvPr id="9" name="s8-call-2">
            <a:extLst xmlns:a="http://schemas.openxmlformats.org/drawingml/2006/main">
              <a:ext uri="{FF2B5EF4-FFF2-40B4-BE49-F238E27FC236}">
                <a16:creationId xmlns:a16="http://schemas.microsoft.com/office/drawing/2014/main" id="{D5E0B460-DD68-460E-BCA8-C5403EBE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71825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8-call-2-h">
            <a:extLst xmlns:a="http://schemas.openxmlformats.org/drawingml/2006/main">
              <a:ext uri="{FF2B5EF4-FFF2-40B4-BE49-F238E27FC236}">
                <a16:creationId xmlns:a16="http://schemas.microsoft.com/office/drawing/2014/main" id="{8798EE4A-9077-4944-8A1F-FE4B654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 work units vs 19 native</a:t>
            </a:r>
          </a:p>
        </p:txBody>
      </p:sp>
      <p:sp>
        <p:nvSpPr>
          <p:cNvPr id="11" name="s8-call-2-b">
            <a:extLst xmlns:a="http://schemas.openxmlformats.org/drawingml/2006/main">
              <a:ext uri="{FF2B5EF4-FFF2-40B4-BE49-F238E27FC236}">
                <a16:creationId xmlns:a16="http://schemas.microsoft.com/office/drawing/2014/main" id="{4B068E00-FC01-48D3-9B5C-034ADEA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290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5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No human operator time or monetary compute cost was measured.</a:t>
            </a:r>
          </a:p>
        </p:txBody>
      </p:sp>
      <p:sp>
        <p:nvSpPr>
          <p:cNvPr id="12" name="s8-call-3">
            <a:extLst xmlns:a="http://schemas.openxmlformats.org/drawingml/2006/main">
              <a:ext uri="{FF2B5EF4-FFF2-40B4-BE49-F238E27FC236}">
                <a16:creationId xmlns:a16="http://schemas.microsoft.com/office/drawing/2014/main" id="{B67137B8-E699-4412-AD0B-95C2B3AA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86275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7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3" name="s8-call-3-h">
            <a:extLst xmlns:a="http://schemas.openxmlformats.org/drawingml/2006/main">
              <a:ext uri="{FF2B5EF4-FFF2-40B4-BE49-F238E27FC236}">
                <a16:creationId xmlns:a16="http://schemas.microsoft.com/office/drawing/2014/main" id="{61068707-976E-49BD-B043-E4BB4EC5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Frozen score: 1 of 2</a:t>
            </a:r>
          </a:p>
        </p:txBody>
      </p:sp>
      <p:sp>
        <p:nvSpPr>
          <p:cNvPr id="14" name="s8-call-3-b">
            <a:extLst xmlns:a="http://schemas.openxmlformats.org/drawingml/2006/main">
              <a:ext uri="{FF2B5EF4-FFF2-40B4-BE49-F238E27FC236}">
                <a16:creationId xmlns:a16="http://schemas.microsoft.com/office/drawing/2014/main" id="{79EA5976-DF7B-4738-BF60-FD34F437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1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Order-sensitive descendant comparison conservatively false-negatives one repair.</a:t>
            </a:r>
          </a:p>
        </p:txBody>
      </p:sp>
    </p:spTree>
    <p:extLst>
      <p:ext uri="{BB962C8B-B14F-4D97-AF65-F5344CB8AC3E}">
        <p14:creationId xmlns:p14="http://schemas.microsoft.com/office/powerpoint/2010/main" val="508784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9">
            <a:extLst xmlns:a="http://schemas.openxmlformats.org/drawingml/2006/main">
              <a:ext uri="{FF2B5EF4-FFF2-40B4-BE49-F238E27FC236}">
                <a16:creationId xmlns:a16="http://schemas.microsoft.com/office/drawing/2014/main" id="{37857A61-2C14-44F8-B9CC-C490968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bounded decision is revise—not adopt</a:t>
            </a:r>
          </a:p>
        </p:txBody>
      </p:sp>
      <p:cxnSp>
        <p:nvCxnSpPr>
          <p:cNvPr id="21" name="title-rule-9"/>
          <p:cNvCxnSpPr/>
          <p:nvPr/>
        </p:nvCxnSpPr>
        <p:spPr>
          <a:xfrm xmlns:a="http://schemas.openxmlformats.org/drawingml/2006/main">
            <a:off x="533400" y="1457325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3629F759-67FE-43D7-8EBB-58593DE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Bounded TPC-DI-derived spike · scripted zero-model experiment</a:t>
            </a:r>
          </a:p>
        </p:txBody>
      </p:sp>
      <p:sp>
        <p:nvSpPr>
          <p:cNvPr id="4" name="footer-num-9">
            <a:extLst xmlns:a="http://schemas.openxmlformats.org/drawingml/2006/main">
              <a:ext uri="{FF2B5EF4-FFF2-40B4-BE49-F238E27FC236}">
                <a16:creationId xmlns:a16="http://schemas.microsoft.com/office/drawing/2014/main" id="{279699B2-9968-49B7-9B46-1DB64C9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s9-verdict">
            <a:extLst xmlns:a="http://schemas.openxmlformats.org/drawingml/2006/main">
              <a:ext uri="{FF2B5EF4-FFF2-40B4-BE49-F238E27FC236}">
                <a16:creationId xmlns:a16="http://schemas.microsoft.com/office/drawing/2014/main" id="{E56CE3C3-63AD-478B-8B35-187E7DB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14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REVISE</a:t>
            </a:r>
          </a:p>
        </p:txBody>
      </p:sp>
      <p:sp>
        <p:nvSpPr>
          <p:cNvPr id="6" name="s9-thesis">
            <a:extLst xmlns:a="http://schemas.openxmlformats.org/drawingml/2006/main">
              <a:ext uri="{FF2B5EF4-FFF2-40B4-BE49-F238E27FC236}">
                <a16:creationId xmlns:a16="http://schemas.microsoft.com/office/drawing/2014/main" id="{FFB8A565-5AF7-4250-8329-3305C583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architecture earned a stronger semantic result, but the valid scored run missed its preregistered quality gate.</a:t>
            </a:r>
          </a:p>
        </p:txBody>
      </p:sp>
      <p:cxnSp>
        <p:nvCxnSpPr>
          <p:cNvPr id="26" name="s9-split"/>
          <p:cNvCxnSpPr/>
          <p:nvPr/>
        </p:nvCxnSpPr>
        <p:spPr>
          <a:xfrm xmlns:a="http://schemas.openxmlformats.org/drawingml/2006/main">
            <a:off x="5772150" y="175260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9-keep">
            <a:extLst xmlns:a="http://schemas.openxmlformats.org/drawingml/2006/main">
              <a:ext uri="{FF2B5EF4-FFF2-40B4-BE49-F238E27FC236}">
                <a16:creationId xmlns:a16="http://schemas.microsoft.com/office/drawing/2014/main" id="{89B6DB39-A561-4CA6-A2A0-5A4AFF5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survived review</a:t>
            </a:r>
          </a:p>
        </p:txBody>
      </p:sp>
      <p:sp>
        <p:nvSpPr>
          <p:cNvPr id="9" name="s9-b1-dot">
            <a:extLst xmlns:a="http://schemas.openxmlformats.org/drawingml/2006/main">
              <a:ext uri="{FF2B5EF4-FFF2-40B4-BE49-F238E27FC236}">
                <a16:creationId xmlns:a16="http://schemas.microsoft.com/office/drawing/2014/main" id="{D281E9CA-1544-4AE2-A8B1-0495C868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s9-b1">
            <a:extLst xmlns:a="http://schemas.openxmlformats.org/drawingml/2006/main">
              <a:ext uri="{FF2B5EF4-FFF2-40B4-BE49-F238E27FC236}">
                <a16:creationId xmlns:a16="http://schemas.microsoft.com/office/drawing/2014/main" id="{2B2D4B83-9A53-4EA4-9095-2FC3A51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33625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Local-pass / edge-fail distinction is executable</a:t>
            </a:r>
          </a:p>
        </p:txBody>
      </p:sp>
      <p:sp>
        <p:nvSpPr>
          <p:cNvPr id="11" name="s9-b2-dot">
            <a:extLst xmlns:a="http://schemas.openxmlformats.org/drawingml/2006/main">
              <a:ext uri="{FF2B5EF4-FFF2-40B4-BE49-F238E27FC236}">
                <a16:creationId xmlns:a16="http://schemas.microsoft.com/office/drawing/2014/main" id="{47C9CF4A-4756-4DF4-BA66-046AA7F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s9-b2">
            <a:extLst xmlns:a="http://schemas.openxmlformats.org/drawingml/2006/main">
              <a:ext uri="{FF2B5EF4-FFF2-40B4-BE49-F238E27FC236}">
                <a16:creationId xmlns:a16="http://schemas.microsoft.com/office/drawing/2014/main" id="{0616806E-99F3-4AC0-9C01-C6C35F52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authorized edge Sketch can change</a:t>
            </a:r>
          </a:p>
        </p:txBody>
      </p:sp>
      <p:sp>
        <p:nvSpPr>
          <p:cNvPr id="13" name="s9-b3-dot">
            <a:extLst xmlns:a="http://schemas.openxmlformats.org/drawingml/2006/main">
              <a:ext uri="{FF2B5EF4-FFF2-40B4-BE49-F238E27FC236}">
                <a16:creationId xmlns:a16="http://schemas.microsoft.com/office/drawing/2014/main" id="{41748867-B04D-410C-A7EE-F79D8DAA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s9-b3">
            <a:extLst xmlns:a="http://schemas.openxmlformats.org/drawingml/2006/main">
              <a:ext uri="{FF2B5EF4-FFF2-40B4-BE49-F238E27FC236}">
                <a16:creationId xmlns:a16="http://schemas.microsoft.com/office/drawing/2014/main" id="{0E6F4C0C-5CFE-4918-A461-EB640FB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71875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projection rebuilds without CE archive context</a:t>
            </a:r>
          </a:p>
        </p:txBody>
      </p:sp>
      <p:sp>
        <p:nvSpPr>
          <p:cNvPr id="15" name="s9-b4-dot">
            <a:extLst xmlns:a="http://schemas.openxmlformats.org/drawingml/2006/main">
              <a:ext uri="{FF2B5EF4-FFF2-40B4-BE49-F238E27FC236}">
                <a16:creationId xmlns:a16="http://schemas.microsoft.com/office/drawing/2014/main" id="{3C71C368-38DE-4063-A78E-4932C32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76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s9-b4">
            <a:extLst xmlns:a="http://schemas.openxmlformats.org/drawingml/2006/main">
              <a:ext uri="{FF2B5EF4-FFF2-40B4-BE49-F238E27FC236}">
                <a16:creationId xmlns:a16="http://schemas.microsoft.com/office/drawing/2014/main" id="{B4844692-A923-4FA8-BA17-9E4C9A03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Localized and full replay both retain recall 1.0</a:t>
            </a:r>
          </a:p>
        </p:txBody>
      </p:sp>
      <p:sp>
        <p:nvSpPr>
          <p:cNvPr id="17" name="s9-next">
            <a:extLst xmlns:a="http://schemas.openxmlformats.org/drawingml/2006/main">
              <a:ext uri="{FF2B5EF4-FFF2-40B4-BE49-F238E27FC236}">
                <a16:creationId xmlns:a16="http://schemas.microsoft.com/office/drawing/2014/main" id="{B22DA5A8-A602-4607-B757-2A609E13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074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9-next-h">
            <a:extLst xmlns:a="http://schemas.openxmlformats.org/drawingml/2006/main">
              <a:ext uri="{FF2B5EF4-FFF2-40B4-BE49-F238E27FC236}">
                <a16:creationId xmlns:a16="http://schemas.microsoft.com/office/drawing/2014/main" id="{EB42BAE9-CBB4-4433-940E-1E46B1C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experiment</a:t>
            </a:r>
          </a:p>
        </p:txBody>
      </p:sp>
      <p:sp>
        <p:nvSpPr>
          <p:cNvPr id="19" name="s9-next-b">
            <a:extLst xmlns:a="http://schemas.openxmlformats.org/drawingml/2006/main">
              <a:ext uri="{FF2B5EF4-FFF2-40B4-BE49-F238E27FC236}">
                <a16:creationId xmlns:a16="http://schemas.microsoft.com/office/drawing/2014/main" id="{92983922-1623-49C4-8C15-60334A51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10150"/>
            <a:ext cx="802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9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Correct descendant-set scoring under a new preregistration, retain the same authority boundaries, then introduce real model-generated change proposals and measured human review effort.</a:t>
            </a:r>
          </a:p>
        </p:txBody>
      </p:sp>
    </p:spTree>
    <p:extLst>
      <p:ext uri="{BB962C8B-B14F-4D97-AF65-F5344CB8AC3E}">
        <p14:creationId xmlns:p14="http://schemas.microsoft.com/office/powerpoint/2010/main" val="1549449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10-eyebrow">
            <a:extLst xmlns:a="http://schemas.openxmlformats.org/drawingml/2006/main">
              <a:ext uri="{FF2B5EF4-FFF2-40B4-BE49-F238E27FC236}">
                <a16:creationId xmlns:a16="http://schemas.microsoft.com/office/drawing/2014/main" id="{516FB3A1-058A-48FC-938F-43BF590C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QUESTIONS FOR A DATA ARCHITECT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1FA8DCED-B7F9-4F35-92A3-BE657C9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2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would you distrust this architecture?</a:t>
            </a:r>
          </a:p>
        </p:txBody>
      </p:sp>
      <p:sp>
        <p:nvSpPr>
          <p:cNvPr id="3" name="s10-num-0">
            <a:extLst xmlns:a="http://schemas.openxmlformats.org/drawingml/2006/main">
              <a:ext uri="{FF2B5EF4-FFF2-40B4-BE49-F238E27FC236}">
                <a16:creationId xmlns:a16="http://schemas.microsoft.com/office/drawing/2014/main" id="{9E97C980-CB87-4F4D-ACCC-22977DE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s10-head-0">
            <a:extLst xmlns:a="http://schemas.openxmlformats.org/drawingml/2006/main">
              <a:ext uri="{FF2B5EF4-FFF2-40B4-BE49-F238E27FC236}">
                <a16:creationId xmlns:a16="http://schemas.microsoft.com/office/drawing/2014/main" id="{2B0E69E3-5854-4352-B9B1-73BA488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5" name="s10-body-0">
            <a:extLst xmlns:a="http://schemas.openxmlformats.org/drawingml/2006/main">
              <a:ext uri="{FF2B5EF4-FFF2-40B4-BE49-F238E27FC236}">
                <a16:creationId xmlns:a16="http://schemas.microsoft.com/office/drawing/2014/main" id="{7C9A0826-B5CA-4A09-9D0B-C4B822C2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Are grain, identity, units, and time semantics sufficient to make stage edges governable in real warehouses?</a:t>
            </a:r>
          </a:p>
        </p:txBody>
      </p:sp>
      <p:cxnSp>
        <p:nvCxnSpPr>
          <p:cNvPr id="20" name="s10-rule-0"/>
          <p:cNvCxnSpPr/>
          <p:nvPr/>
        </p:nvCxnSpPr>
        <p:spPr>
          <a:xfrm xmlns:a="http://schemas.openxmlformats.org/drawingml/2006/main">
            <a:off x="1352550" y="3152775"/>
            <a:ext cx="9886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s10-num-1">
            <a:extLst xmlns:a="http://schemas.openxmlformats.org/drawingml/2006/main">
              <a:ext uri="{FF2B5EF4-FFF2-40B4-BE49-F238E27FC236}">
                <a16:creationId xmlns:a16="http://schemas.microsoft.com/office/drawing/2014/main" id="{277E4F2C-6916-4AB9-91D1-69972E3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s10-head-1">
            <a:extLst xmlns:a="http://schemas.openxmlformats.org/drawingml/2006/main">
              <a:ext uri="{FF2B5EF4-FFF2-40B4-BE49-F238E27FC236}">
                <a16:creationId xmlns:a16="http://schemas.microsoft.com/office/drawing/2014/main" id="{55E52198-9B5E-4A63-A046-62EC10E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</p:txBody>
      </p:sp>
      <p:sp>
        <p:nvSpPr>
          <p:cNvPr id="9" name="s10-body-1">
            <a:extLst xmlns:a="http://schemas.openxmlformats.org/drawingml/2006/main">
              <a:ext uri="{FF2B5EF4-FFF2-40B4-BE49-F238E27FC236}">
                <a16:creationId xmlns:a16="http://schemas.microsoft.com/office/drawing/2014/main" id="{5FF530ED-F0B6-418F-B96D-BD429A8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Can policy ownership be operationalized without turning every repair into a governance ceremony?</a:t>
            </a:r>
          </a:p>
        </p:txBody>
      </p:sp>
      <p:cxnSp>
        <p:nvCxnSpPr>
          <p:cNvPr id="24" name="s10-rule-1"/>
          <p:cNvCxnSpPr/>
          <p:nvPr/>
        </p:nvCxnSpPr>
        <p:spPr>
          <a:xfrm xmlns:a="http://schemas.openxmlformats.org/drawingml/2006/main">
            <a:off x="1352550" y="4410075"/>
            <a:ext cx="9886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s10-num-2">
            <a:extLst xmlns:a="http://schemas.openxmlformats.org/drawingml/2006/main">
              <a:ext uri="{FF2B5EF4-FFF2-40B4-BE49-F238E27FC236}">
                <a16:creationId xmlns:a16="http://schemas.microsoft.com/office/drawing/2014/main" id="{73979F75-EFCD-4052-A791-F58B498D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s10-head-2">
            <a:extLst xmlns:a="http://schemas.openxmlformats.org/drawingml/2006/main">
              <a:ext uri="{FF2B5EF4-FFF2-40B4-BE49-F238E27FC236}">
                <a16:creationId xmlns:a16="http://schemas.microsoft.com/office/drawing/2014/main" id="{37DDACED-B3EB-490E-8B85-803CAAD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 radius</a:t>
            </a:r>
          </a:p>
        </p:txBody>
      </p:sp>
      <p:sp>
        <p:nvSpPr>
          <p:cNvPr id="13" name="s10-body-2">
            <a:extLst xmlns:a="http://schemas.openxmlformats.org/drawingml/2006/main">
              <a:ext uri="{FF2B5EF4-FFF2-40B4-BE49-F238E27FC236}">
                <a16:creationId xmlns:a16="http://schemas.microsoft.com/office/drawing/2014/main" id="{8CE2FB0D-5E30-40CC-8E96-C5560AC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When does semantic dependency add useful precision beyond lineage—and when does full replay simply win?</a:t>
            </a:r>
          </a:p>
        </p:txBody>
      </p:sp>
      <p:sp>
        <p:nvSpPr>
          <p:cNvPr id="14" name="s10-footer">
            <a:extLst xmlns:a="http://schemas.openxmlformats.org/drawingml/2006/main">
              <a:ext uri="{FF2B5EF4-FFF2-40B4-BE49-F238E27FC236}">
                <a16:creationId xmlns:a16="http://schemas.microsoft.com/office/drawing/2014/main" id="{46E7CABD-A8D2-4C6C-BEE0-D399A42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rPr>
              <a:t>Architecture and evidence: github.com/open-horizon-labs/governed-compositional-etl</a:t>
            </a:r>
          </a:p>
        </p:txBody>
      </p:sp>
    </p:spTree>
    <p:extLst>
      <p:ext uri="{BB962C8B-B14F-4D97-AF65-F5344CB8AC3E}">
        <p14:creationId xmlns:p14="http://schemas.microsoft.com/office/powerpoint/2010/main" val="1032555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2026-08-14T17:07:17.0910000Z</dcterms:created>
  <dcterms:modified xsi:type="dcterms:W3CDTF">2026-08-14T17:07:17.0910000Z</dcterms:modified>
</coreProperties>
</file>